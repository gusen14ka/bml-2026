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93" r:id="rId2"/>
    <p:sldId id="257" r:id="rId3"/>
    <p:sldId id="258" r:id="rId4"/>
    <p:sldId id="260" r:id="rId5"/>
    <p:sldId id="261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7" r:id="rId15"/>
    <p:sldId id="288" r:id="rId16"/>
    <p:sldId id="289" r:id="rId17"/>
    <p:sldId id="290" r:id="rId18"/>
    <p:sldId id="291" r:id="rId19"/>
    <p:sldId id="29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86" r:id="rId34"/>
    <p:sldId id="276" r:id="rId35"/>
    <p:sldId id="277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E6F919DB-0CE9-E8F4-17F3-95DD89B677FD}">
          <p14:sldIdLst>
            <p14:sldId id="293"/>
            <p14:sldId id="257"/>
            <p14:sldId id="258"/>
            <p14:sldId id="260"/>
            <p14:sldId id="261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7"/>
            <p14:sldId id="288"/>
            <p14:sldId id="289"/>
            <p14:sldId id="290"/>
            <p14:sldId id="291"/>
            <p14:sldId id="29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Резерв" id="{F9EDFE3E-A767-516B-08E8-83491B3403B3}">
          <p14:sldIdLst>
            <p14:sldId id="286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13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7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4574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 с. Тема — регуляризация: набор приёмов, которые не дают модели подстраиваться под шум в данных. Пойдём от общей идеи к конкретным моделям.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~15 с. Пять частей: сначала общая идея, затем по типам моделей. Части 2–3 рассказывает [имя], части 4–5 — 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с. Переобучение — модель выучила не закономерность, а конкретную выборку вместе с шумом. На графике: с ростом сложности ошибка на обучении падает всегда, а на тесте — сначала падает, потом растёт. Слева от оптимума — недообучение, справа — переобучение. Вся регуляризация — это способы сдвинуться к оптимуму.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с. Определение по книге Goodfellow et al.: цель регуляризации — не ошибка на обучении, а ошибка на новых данных. Бывает </a:t>
            </a:r>
            <a:r>
              <a:rPr lang="en-US" dirty="0" err="1"/>
              <a:t>явная</a:t>
            </a:r>
            <a:r>
              <a:rPr lang="en-US" dirty="0"/>
              <a:t> регуляризация — добавляем к функционалу штраф за сложность, λ задаёт его силу. И </a:t>
            </a:r>
            <a:r>
              <a:rPr lang="en-US" dirty="0" err="1"/>
              <a:t>неявная</a:t>
            </a:r>
            <a:r>
              <a:rPr lang="en-US" dirty="0"/>
              <a:t> — ничего не добавляем, а ограничиваем саму модель или процесс обучения. Оба вида встретятся в каждой части.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 с. Для квадратичной ошибки ожидаемая ошибка в точке раскладывается на три слагаемых. Смещение — систематическая ошибка: даже усреднив модели, обученные на разных выборках, мы не попадём в истину. Разброс — чувствительность модели к конкретной обучающей выборке. Шум — то, что убрать нельзя. Простые модели — большое смещение, сложные — большой разброс.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~1 мин. Переходим ко второй части — линейные модели. Сначала разберёмся, зачем вообще регуляризовать линейную регрессию: модель же простая, чему тут переобучаться? Оказывается, есть чему. Обычный метод наименьших квадратов даёт веса по первой формуле, и в ней нужно обращать матрицу X-транспонированное на X. Если признаки сильно коррелируют, эта матрица почти вырождена, и обратная к ней содержит огромные числа. Веса получаются большими, с разными знаками и сильно скачут от выборки к выборке: один признак компенсирует другой. Если же признаков много — сравнимо с числом объектов или больше, — матрица вырождена совсем, решений бесконечно много, и модель подгоняет даже шум. Лечим просто: добавляем к функции потерь штраф за размер весов. Омега — это штраф, лямбда — его сила. Платим чуть большим смещением, получаем заметно меньший разброс — ровно то, о чём мы говорили во введении.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~55 с. Первый вариант штрафа — L2, или гребневая регрессия, Ridge. Штрафуем сумму квадратов весов. Хорошая новость: решение по-прежнему записывается в явном виде, просто к матрице X-транспонированное на X добавляется лямбда, умноженная на единичную матрицу. Из-за этого матрица обратима при любом положительном лямбда — вырожденность перестаёт быть проблемой. Что происходит с весами: они сжимаются к нулю, но сами нулями не становятся. Если два признака коррелируют, вес делится между ними примерно поровну, а не раздувается с разными знаками. На практике важны три вещи. Первое: признаки нужно масштабировать, иначе штраф по-разному бьёт по признакам с разной шкалой. Второе: свободный член не штрафуют. Третье: у Ridge есть байесовская трактовка — это оценка при гауссовском априорном распределении весов.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~45 с. Второй вариант — L1, Lasso. Штрафуем сумму модулей весов. Отличие принципиальное: часть весов обращается ровно в ноль. То есть Lasso заодно делает отбор признаков, и итоговая модель получается разреженной и легко интерпретируемой. Цена — аналитического решения нет: модуль не дифференцируем в нуле, поэтому используют, например, координатный спуск. И два ограничения. Если несколько признаков сильно коррелируют, Lasso оставляет один из них, причём довольно произвольно, и этот выбор нестабилен. А когда признаков больше, чем объектов, он может оставить не больше n признаков. Байесовская трактовка здесь — лапласовское априорное распределение: у него острый пик в нуле, отсюда и нули в решении.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~50 с. Почему L1 обнуляет веса, а L2 — нет? Ответ в геометрии. Задачу со штрафом можно переписать как минимизацию ошибки при ограничении: норма весов не больше t. Пунктирные эллипсы — линии уровня ошибки, в центре — решение без штрафа. Серая область — допустимые веса. Решение — первая точка, в которой эллипс касается области. У L2 область — круг, он гладкий, касание происходит в произвольной точке, и оба веса остаются ненулевыми. У L1 область — ромб, а его углы лежат на осях координат. Эллипс чаще всего касается именно угла, и тогда один из весов равен нулю. В больших размерностях углов и рёбер ещё больше, поэтому Lasso обнуляет много весов сразу.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~35 с. Сведём сравнение в таблицу. Штраф: у L2 сумма квадратов, у L1 сумма модулей. Ridge сжимает веса, но не обнуляет; Lasso обнуляет часть. Поэтому отбор признаков есть только у Lasso. С коррелирующими признаками: Ridge делит вес между ними, Lasso оставляет один. Решение у Ridge аналитическое, у Lasso численное. Априорные распределения — гауссовское и лапласовское. Практическое правило: если полезных признаков много и каждый вносит понемногу — берём Ridge; если подозреваем, что важных признаков мало, и нужна интерпретация, — Lasso.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~45 с. Можно взять лучшее из двух — это ElasticNet. Штраф — комбинация L1 и L2, ро задаёт долю L1: при ро, равном единице, получаем Lasso, при нуле — Ridge. От Lasso модель берёт разреженность, от Ridge — устойчивость к корреляциям: коррелирующие признаки входят в модель или выходят из неё вместе, это называют grouping effect. Заодно снимается ограничение Lasso — не больше n признаков. Цена — два гиперпараметра вместо одного: общая сила лямбда и доля ро. Их подбирают по сетке с кросс-валидацией. Типичный случай применения — признаков намного больше, чем объектов, и они образуют коррелирующие группы: гены, слова в тексте.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~1 мин 5 с. Теоретическое обобщение: все эти штрафы — частные случаи Lp-штрафа, то есть суммы модулей весов в степени p. На картинках — единичные шары, области «норма не больше единицы» для разных p. При p равном нулю штраф считает число ненулевых весов: это идеальный отбор признаков, но задача перебора NP-трудная. При p между нулём и единицей области вогнутые, с острыми углами: такие штрафы разреживают сильнее L1, но задача невыпуклая, с множеством локальных минимумов. Значение p равно единице — самое близкое к L0, при котором задача ещё выпуклая; именно поэтому Lasso так популярен. При p больше единицы углов нет, и нулей тоже нет: p равное двум — это Ridge, а при p, стремящемся к бесконечности, штраф давит только на самый большой вес. Вывод: чем острее углы на осях, тем сильнее разреживание; чем выпуклее задача, тем проще оптимизация.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~1 мин. Теперь про гиперпараметр лямбда. Он отвечает за силу регуляризации и по сути является ручкой bias–variance. Когда лямбда стремится к нулю, получаем обычный МНК: большой разброс, переобучение. Когда лямбда растёт, веса сжимаются, и в пределе все стремятся к нулю: недообучение, большое смещение. На графике — пути весов при росте лямбда. У Ridge они плавно уходят к нулю, у Lasso обнуляются по одному, и видно порядок, в котором признаки выбывают. Подбирают лямбда кросс-валидацией по логарифмической сетке — для этого есть RidgeCV и LassoCV. Обязательно по валидации, а не по ошибке на обучении: на обучении лучшей всегда окажется лямбда, равная нулю. И про названия: в sklearn параметр называется alpha и равен лямбда, а в SVM и логистической регрессии это C, и он обратный: C равно единице, делённой на лямбда.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~1 мин 5 с. Переходим к третьей части — деревья и ансамбли. Бустинг мы вынесли в отдельную часть. Сначала — почему деревья переобучаются, причём практически всегда. На картинке — дерево регрессии на одних и тех же 40 точках, пунктир — истинная зависимость. Глубина один — недообучение. Глубина два — разумная модель. Без ограничений дерево проходит через каждую точку: ошибка на обучении ноль, а на тесте она выше, чем у неглубокого. Причин три. Первая: у дерева нет встроенного ограничения сложности — оно делит выборку, пока листья не станут чистыми, а в пределе получается один лист на объект. Вторая: деревья нестабильны — небольшое изменение данных меняет верхние разбиения, а с ними и всё дерево, то есть разброс огромный. Третья: чем глубже, тем меньше объектов в узле, и значение в листе определяется несколькими точками, то есть шумом. Поэтому дерево без регуляризации — это почти всегда переобученная модель.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~50 с. Как с этим бороться? Способов много, и их удобно разделить на две группы. Первая — ограничиваем рост: останавливаем построение заранее, пока дерево не разрослось. Варианты: глубина, минимальное число объектов для разбиения, минимальное число объектов в листе, максимальное число листьев и минимальный выигрыш от разбиения. Вторая группа — обрезка: сначала строим полное дерево, а потом убираем лишние ветви. Здесь тоже варианты: reduced error pruning — по отдельной валидационной выборке; cost-complexity pruning — со штрафом за число листьев; и pessimistic pruning из C4.5, которая оценивает ошибку без отдельной выборки. Есть и третий путь, к нему мы перейдём отдельно: не ограничивать одно дерево, а усреднять много деревьев — ансамбли. Идём по порядку.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~55 с. Первая группа — ограничение роста, она же pre-pruning. Параметры в таблице — это ручки, которые не дают дереву расти. Глубина и число листьев ограничивают общий размер дерева. Минимальное число объектов в узле и в листе гарантируют, что ответ в листе усредняется по достаточному числу точек, а не по двум-трём шумным. Минимальный выигрыш не позволяет делать разбиения, которые почти ничего не улучшают. А ограничение числа признаков при разбиении добавляет случайность. Плюс подхода — он быстрый и дешёвый: лишнее мы просто не строим. Минус — близорукость: разбиение может давать нулевой выигрыш прямо сейчас, но открывать полезные разбиения ниже. Классический пример — XOR: ни один признак по отдельности ничего не даёт, и алгоритм остановится слишком рано. Все эти параметры подбирают кросс-валидацией.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~55 с. Вторая группа — обрезка, post-pruning. Идея обратная: даём дереву вырасти полностью, а потом убираем ветви, которые себя не оправдывают. Первый вариант — cost-complexity pruning из CART. Это единственное место, где в деревьях появляется явный штраф: к ошибке на обучении добавляем альфа, умноженное на число листьев. По сути та же идея, что L1 и L2 в линейных моделях, только штрафуем не веса, а размер дерева. Алгоритм строит последовательность вложенных поддеревьев, на каждом шаге убирая самое слабое звено, а альфа выбирают кросс-валидацией — в sklearn это ccp_alpha. Второй вариант — reduced error pruning: берём отдельную валидационную выборку и идём снизу вверх, заменяя поддерево листом, если ошибка на валидации не растёт. Обрезка не близорука, но требует сначала вырастить полное дерево, а это дороже.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~1 мин 10 с. Теперь ансамбли. Идея бэггинга — не ограничивать отдельное дерево, а усреднить много деревьев. Каждое дерево строим на своей бутстрэп-выборке — случайной выборке с возвращением — и усредняем предсказания. Деревья при этом глубокие: у них малое смещение и большой разброс, а усреднение разброс как раз убирает. Формула показывает, насколько: дисперсия среднего B деревьев равна ро сигма в квадрате плюс один минус ро, умноженное на сигма в квадрате и делённое на B. Второе слагаемое уменьшается с ростом B, а первое определяется корреляцией между деревьями. Поэтому в случайном лесе, Breiman, 2001, при каждом разбиении лучший признак выбирают не из всех, а из случайного подмножества. Деревья становятся менее похожи, ро падает, и усреднение работает лучше. На графике — ошибка случайного леса на тесте в зависимости от числа деревьев, данные синтетические. Уже с двух-трёх деревьев лес лучше одного глубокого дерева, а дальше ошибка выходит на плато и не растёт.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~1 мин 10 с. Как регуляризуется сам случайный лес. Главное: число деревьев — единственный параметр, который не приводит к переобучению. Больше деревьев никогда не вредит, просто после плато ничего не даёт. Остальные параметры — настоящие ручки регуляризации. max_features: чем меньше признаков смотрим в узле, тем менее похожи деревья и тем сильнее регуляризация. max_samples — размер бутстрэп-выборки для каждого дерева: чем меньше, тем больше случайности. Ограничения отдельных деревьев — глубина и минимум объектов в листе — те же, что в предыдущем разделе; чаще всего деревья в лесу всё же оставляют глубокими. И ExtraTrees — вариант, где пороги разбиений выбираются случайно, а не оптимально: ещё больше случайности и ещё меньше разброс. Важная оговорка: лес защищён не полностью. При сильном шуме полностью выросшие деревья запоминают его, и тогда помогает min_samples_leaf. И бонус: OOB-оценка — каждое дерево не видело часть объектов, на них можно посчитать ошибку, то есть получить валидацию без отдельной выборки. Дальше — бустинг, там регуляризация устроена иначе.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с. Бустинг строит деревья последовательно: каждое следующее учится на антиградиенте, то есть на ошибках текущего ансамбля. В случайном лесе усреднение независимых деревьев снижает разброс, и лишние деревья не вредят. Бустинг же снижает смещение — и если вовремя не остановиться, начинает подгоняться под шум. Отсюда пять рычагов регуляризации, по ним и пойдём.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с. Темп обучения η: каждое дерево добавляет только часть своего ответа. Фридман показал, что маленький шаг даёт лучшее качество ценой большего числа деревьев. Число деревьев — главный параметр сложности, его удобно подбирать ранней остановкой по валидации. На практике: η порядка 0.05 и много деревьев с early stopping.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~35 с. Стохастический бустинг: каждое дерево учится на случайной подвыборке объектов и/или признаков — это бэггинг внутри бустинга, деревья становятся менее скоррелированными. Плюс ограничения на сами деревья — те же, что в части 3: глубина, число листьев, минимум данных в листе. В CatBoost деревья симметричные — одно условие на весь уровень, это само по себе сильная регуляризация.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 с. В XGBoost штраф прямо в функционале: γ за каждый лист, L2 (λ) и L1 (α) на значения в листьях. Из разложения потерь до второго порядка получаем оптимальное значение листа −G/(H+λ): λ в знаменателе стягивает его к нулю — это та же гребневая регрессия из части 2. В формуле прироста γ вычитается: если разбиение даёт выигрыш меньше γ, его не делают — встроенная обрезка дерева. G и H — суммы первых и вторых производных функции потерь по объектам листа.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с. В нейросетях параметров часто больше, чем объектов, и, как мы видели на примере Zhang et al., сеть может просто запомнить данные. Методов много, сгруппируем их: штрафы на веса, шум во время обучения, контроль обучения и </a:t>
            </a:r>
            <a:r>
              <a:rPr lang="en-US" dirty="0" err="1"/>
              <a:t>неявная</a:t>
            </a:r>
            <a:r>
              <a:rPr lang="en-US" dirty="0"/>
              <a:t> регуляризация. Дальше коротко по каждой группе.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с. L2 в сетях — то же, что в гребневой регрессии. Если расписать шаг градиентного спуска, веса на каждом шаге умножаются на число меньше единицы — отсюда название weight decay. Для обычного SGD L2 и weight decay совпадают. Для Adam — нет: градиент штрафа делится на адаптивный знаменатель. Поэтому в AdamW затухание применяют отдельно от градиента; сейчас это стандарт, например, для трансформеров.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с. Dropout — самый известный приём. На каждом шаге случайно выключаем часть нейронов. Чтобы масштаб активаций не менялся, выжившие умножаем на 1/(1−p), а на инференсе dropout выключаем. Интерпретация: нейроны не могут «сговориться» и рассчитывать на конкретных соседей, и фактически мы обучаем огромный ансамбль подсетей с общими весами. Похожая идея есть в бустинге — DART: на итерации случайно выкидывают часть уже построенных деревьев.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с. Ранняя остановка — то же, что в бустинге: следим за валидацией и останавливаемся, когда она перестала улучшаться, с запасом в patience эпох, после чего откатываемся к лучшим весам. Интересный факт из книги Goodfellow et al. (гл. 7.8): для линейной модели с квадратичной потерей ранняя остановка приближённо эквивалентна L2 — число шагов играет роль обратной 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с. Вторая группа — шум. Аугментация: расширяем выборку преобразованиями, которые не меняют ответ; для картинок это обычно самый сильный регуляризатор. Шум во входах: Бишоп показал, что при малом шуме это эквивалентно регуляризации Тихонова. Label smoothing: вместо жёсткой единицы целевое распределение немного размазано по K классам — модель меньше переуверена.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 на демонстрацию: [__] мин. Идеи, что показать по материалу доклада: рост ошибки на тесте у полинома высокой степени и как её снижает Ridge; кривую валидации бустинга и срабатывание early stopping; обучение небольшой сети с dropout и без.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с. Сводка всех пяти частей. Во всех моделях одна и та же идея — пожертвовать немного смещением ради заметного снижения разброса, а силу регуляризации подбирать по валидации.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 с. Список источников — на слайде, зачитывать не нужно.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~1 мин. В завершение части — SVM. Это пример метода, в котором L2-регуляризация зашита в саму постановку задачи. Минимизируем половину квадрата нормы весов плюс C, умноженное на сумму hinge-потерь. Первое слагаемое — ровно L2-штраф. Но в SVM у него есть геометрический смысл: ширина полосы между классами равна двум, делённым на норму w. Минимизировать норму — значит максимизировать зазор, то есть выбирать как можно более простую границу. Hinge-потери штрафуют только объекты внутри полосы и по ту сторону границы; объекты за пределами полосы на решение не влияют. Параметр C — обратная сила регуляризации: большое C — штраф слабый, зазор узкий, на обучении почти нет ошибок; малое C — штраф сильный, зазор широкий, часть ошибок мы допускаем. Есть и вариант с L1-штрафом, он даёт разреженные веса, но основной вариант — на L2.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Резервный слайд — показать при вопросах. Шпаргалка: как одни и те же механизмы называются в трёх библиотеках — не нужно зачитывать. Отдельно отмечу DART — dropout для деревьев: на каждой итерации часть уже построенных деревьев случайно «выключается» при подсчёте поправки. Это мостик к нейросетям. В LightGBM подвыборка строк работает только при bagging_freq &gt;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Резервный слайд — показать при вопросах. Наконец, то, что регуляризует, хотя придумано не для этого. BatchNorm — шум от статистик батча. Маленький батч в SGD — шумный градиент и более плоские минимумы. Архитектура — свёртки с общими весами вместо полносвязных слоёв. И предобучение: стартуем с хороших весов, а не с нуля.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b="1" kern="0" spc="2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54864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b="1" kern="0" spc="2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286000"/>
            <a:ext cx="11094415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611880"/>
            <a:ext cx="1109441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4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286000"/>
            <a:ext cx="110944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tx1"/>
                </a:solidFill>
              </a:rPr>
              <a:t>Регуляризация</a:t>
            </a:r>
            <a:endParaRPr lang="en-US" sz="60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200" dirty="0">
                <a:solidFill>
                  <a:schemeClr val="tx2"/>
                </a:solidFill>
              </a:rPr>
              <a:t>5030102</a:t>
            </a:r>
            <a:r>
              <a:rPr lang="en-US" sz="1200" dirty="0">
                <a:solidFill>
                  <a:schemeClr val="tx2"/>
                </a:solidFill>
              </a:rPr>
              <a:t>/30202</a:t>
            </a:r>
            <a:endParaRPr lang="ru-RU" sz="12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ru-RU" dirty="0"/>
              <a:t>Шевцов Дмитрий</a:t>
            </a:r>
          </a:p>
          <a:p>
            <a:pPr marL="0" indent="0">
              <a:buNone/>
            </a:pPr>
            <a:r>
              <a:rPr lang="ru-RU" sz="1200" dirty="0"/>
              <a:t>Григорьева Анастасия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РЕГУЛЯРИЗАЦИЯ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План доклада</a:t>
            </a:r>
            <a:endParaRPr lang="en-US" sz="3200" dirty="0"/>
          </a:p>
        </p:txBody>
      </p:sp>
      <p:sp>
        <p:nvSpPr>
          <p:cNvPr id="5" name="row rule"/>
          <p:cNvSpPr/>
          <p:nvPr/>
        </p:nvSpPr>
        <p:spPr>
          <a:xfrm>
            <a:off x="548640" y="1783080"/>
            <a:ext cx="1109441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ow number"/>
          <p:cNvSpPr txBox="1"/>
          <p:nvPr/>
        </p:nvSpPr>
        <p:spPr>
          <a:xfrm>
            <a:off x="548640" y="18745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row title"/>
          <p:cNvSpPr txBox="1"/>
          <p:nvPr/>
        </p:nvSpPr>
        <p:spPr>
          <a:xfrm>
            <a:off x="1280160" y="187452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Зачем нужна регуляризация</a:t>
            </a:r>
            <a:endParaRPr lang="en-US" sz="2200" dirty="0"/>
          </a:p>
        </p:txBody>
      </p:sp>
      <p:sp>
        <p:nvSpPr>
          <p:cNvPr id="8" name="row detail"/>
          <p:cNvSpPr txBox="1"/>
          <p:nvPr/>
        </p:nvSpPr>
        <p:spPr>
          <a:xfrm>
            <a:off x="7406640" y="1874520"/>
            <a:ext cx="4236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2"/>
                </a:solidFill>
              </a:rPr>
              <a:t>переобучение, bias–variance</a:t>
            </a:r>
            <a:endParaRPr lang="en-US" sz="1200" dirty="0"/>
          </a:p>
        </p:txBody>
      </p:sp>
      <p:sp>
        <p:nvSpPr>
          <p:cNvPr id="9" name="row rule"/>
          <p:cNvSpPr/>
          <p:nvPr/>
        </p:nvSpPr>
        <p:spPr>
          <a:xfrm>
            <a:off x="548640" y="2560320"/>
            <a:ext cx="1109441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ow number"/>
          <p:cNvSpPr txBox="1"/>
          <p:nvPr/>
        </p:nvSpPr>
        <p:spPr>
          <a:xfrm>
            <a:off x="548640" y="26517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row title"/>
          <p:cNvSpPr txBox="1"/>
          <p:nvPr/>
        </p:nvSpPr>
        <p:spPr>
          <a:xfrm>
            <a:off x="1280160" y="265176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Линейные модели</a:t>
            </a:r>
            <a:endParaRPr lang="en-US" sz="2200" dirty="0"/>
          </a:p>
        </p:txBody>
      </p:sp>
      <p:sp>
        <p:nvSpPr>
          <p:cNvPr id="12" name="row detail"/>
          <p:cNvSpPr txBox="1"/>
          <p:nvPr/>
        </p:nvSpPr>
        <p:spPr>
          <a:xfrm>
            <a:off x="7397675" y="2651760"/>
            <a:ext cx="4236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2"/>
                </a:solidFill>
              </a:rPr>
              <a:t>L1, L2, </a:t>
            </a:r>
            <a:r>
              <a:rPr lang="en-US" sz="1200" dirty="0" err="1">
                <a:solidFill>
                  <a:schemeClr val="tx2"/>
                </a:solidFill>
              </a:rPr>
              <a:t>ElasticNet</a:t>
            </a:r>
            <a:endParaRPr lang="en-US" sz="1200" dirty="0"/>
          </a:p>
        </p:txBody>
      </p:sp>
      <p:sp>
        <p:nvSpPr>
          <p:cNvPr id="13" name="row rule"/>
          <p:cNvSpPr/>
          <p:nvPr/>
        </p:nvSpPr>
        <p:spPr>
          <a:xfrm>
            <a:off x="548640" y="3337560"/>
            <a:ext cx="1109441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ow number"/>
          <p:cNvSpPr txBox="1"/>
          <p:nvPr/>
        </p:nvSpPr>
        <p:spPr>
          <a:xfrm>
            <a:off x="548640" y="34290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row title"/>
          <p:cNvSpPr txBox="1"/>
          <p:nvPr/>
        </p:nvSpPr>
        <p:spPr>
          <a:xfrm>
            <a:off x="1280160" y="342900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Деревья и ансамбли</a:t>
            </a:r>
            <a:endParaRPr lang="en-US" sz="2200" dirty="0"/>
          </a:p>
        </p:txBody>
      </p:sp>
      <p:sp>
        <p:nvSpPr>
          <p:cNvPr id="16" name="row detail"/>
          <p:cNvSpPr txBox="1"/>
          <p:nvPr/>
        </p:nvSpPr>
        <p:spPr>
          <a:xfrm>
            <a:off x="7406640" y="3429000"/>
            <a:ext cx="4236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2"/>
                </a:solidFill>
              </a:rPr>
              <a:t>ограничение роста, обрезка, случайный лес</a:t>
            </a:r>
            <a:endParaRPr lang="en-US" sz="1200" dirty="0"/>
          </a:p>
        </p:txBody>
      </p:sp>
      <p:sp>
        <p:nvSpPr>
          <p:cNvPr id="17" name="row rule"/>
          <p:cNvSpPr/>
          <p:nvPr/>
        </p:nvSpPr>
        <p:spPr>
          <a:xfrm>
            <a:off x="548640" y="4114800"/>
            <a:ext cx="1109441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ow number"/>
          <p:cNvSpPr txBox="1"/>
          <p:nvPr/>
        </p:nvSpPr>
        <p:spPr>
          <a:xfrm>
            <a:off x="548640" y="42062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4</a:t>
            </a:r>
            <a:endParaRPr lang="en-US" sz="2200" dirty="0"/>
          </a:p>
        </p:txBody>
      </p:sp>
      <p:sp>
        <p:nvSpPr>
          <p:cNvPr id="19" name="row title"/>
          <p:cNvSpPr txBox="1"/>
          <p:nvPr/>
        </p:nvSpPr>
        <p:spPr>
          <a:xfrm>
            <a:off x="1280160" y="420624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Градиентный бустинг</a:t>
            </a:r>
            <a:endParaRPr lang="en-US" sz="2200" dirty="0"/>
          </a:p>
        </p:txBody>
      </p:sp>
      <p:sp>
        <p:nvSpPr>
          <p:cNvPr id="20" name="row detail"/>
          <p:cNvSpPr txBox="1"/>
          <p:nvPr/>
        </p:nvSpPr>
        <p:spPr>
          <a:xfrm>
            <a:off x="7406640" y="4206240"/>
            <a:ext cx="4236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2"/>
                </a:solidFill>
              </a:rPr>
              <a:t>темп, ранняя остановка, штрафы на листья</a:t>
            </a:r>
            <a:endParaRPr lang="en-US" sz="1200" dirty="0"/>
          </a:p>
        </p:txBody>
      </p:sp>
      <p:sp>
        <p:nvSpPr>
          <p:cNvPr id="21" name="row rule"/>
          <p:cNvSpPr/>
          <p:nvPr/>
        </p:nvSpPr>
        <p:spPr>
          <a:xfrm>
            <a:off x="548640" y="4892040"/>
            <a:ext cx="1109441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ow number"/>
          <p:cNvSpPr txBox="1"/>
          <p:nvPr/>
        </p:nvSpPr>
        <p:spPr>
          <a:xfrm>
            <a:off x="548640" y="49834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5</a:t>
            </a:r>
            <a:endParaRPr lang="en-US" sz="2200" dirty="0"/>
          </a:p>
        </p:txBody>
      </p:sp>
      <p:sp>
        <p:nvSpPr>
          <p:cNvPr id="23" name="row title"/>
          <p:cNvSpPr txBox="1"/>
          <p:nvPr/>
        </p:nvSpPr>
        <p:spPr>
          <a:xfrm>
            <a:off x="1280160" y="498348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Нейросети</a:t>
            </a:r>
            <a:endParaRPr lang="en-US" sz="2200" dirty="0"/>
          </a:p>
        </p:txBody>
      </p:sp>
      <p:sp>
        <p:nvSpPr>
          <p:cNvPr id="24" name="row detail"/>
          <p:cNvSpPr txBox="1"/>
          <p:nvPr/>
        </p:nvSpPr>
        <p:spPr>
          <a:xfrm>
            <a:off x="7406640" y="4983480"/>
            <a:ext cx="4236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2"/>
                </a:solidFill>
              </a:rPr>
              <a:t>weight decay, dropout, аугментация</a:t>
            </a:r>
            <a:endParaRPr lang="en-US" sz="1200" dirty="0"/>
          </a:p>
        </p:txBody>
      </p:sp>
      <p:sp>
        <p:nvSpPr>
          <p:cNvPr id="25" name="row rule"/>
          <p:cNvSpPr/>
          <p:nvPr/>
        </p:nvSpPr>
        <p:spPr>
          <a:xfrm>
            <a:off x="548640" y="5669280"/>
            <a:ext cx="1109441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1 · ВВЕДЕНИЕ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1799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Переобучение</a:t>
            </a:r>
            <a:endParaRPr lang="en-US" sz="3200" dirty="0"/>
          </a:p>
        </p:txBody>
      </p:sp>
      <p:sp>
        <p:nvSpPr>
          <p:cNvPr id="5" name="text"/>
          <p:cNvSpPr txBox="1"/>
          <p:nvPr/>
        </p:nvSpPr>
        <p:spPr>
          <a:xfrm>
            <a:off x="548640" y="-140858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Модель запоминает обучающую выборку вместо закономерности.</a:t>
            </a:r>
            <a:endParaRPr lang="en-US" sz="22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Симптом: </a:t>
            </a:r>
            <a:r>
              <a:rPr lang="en-US" sz="1600" dirty="0">
                <a:solidFill>
                  <a:schemeClr val="tx1"/>
                </a:solidFill>
              </a:rPr>
              <a:t>ошибка на обучении падает, а на новых данных растёт.</a:t>
            </a:r>
            <a:endParaRPr lang="en-US" sz="2200" dirty="0"/>
          </a:p>
        </p:txBody>
      </p:sp>
      <p:pic>
        <p:nvPicPr>
          <p:cNvPr id="6" name="График ошибки на обучении и тесте от сложности модели" descr="График ошибки на обучении и тесте от сложности модели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" y="2697480"/>
            <a:ext cx="4653643" cy="3429000"/>
          </a:xfrm>
          <a:prstGeom prst="rect">
            <a:avLst/>
          </a:prstGeom>
        </p:spPr>
      </p:pic>
      <p:pic>
        <p:nvPicPr>
          <p:cNvPr id="7" name="Полином 9-й степени по 10 точкам" descr="Полином 9-й степени по 10 точкам">
            <a:extLst>
              <a:ext uri="{FF2B5EF4-FFF2-40B4-BE49-F238E27FC236}">
                <a16:creationId xmlns:a16="http://schemas.microsoft.com/office/drawing/2014/main" id="{DEB3EC76-D1D8-4F5D-8408-8887426239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283858"/>
            <a:ext cx="5669280" cy="3543300"/>
          </a:xfrm>
          <a:prstGeom prst="rect">
            <a:avLst/>
          </a:prstGeom>
        </p:spPr>
      </p:pic>
      <p:sp>
        <p:nvSpPr>
          <p:cNvPr id="9" name="text">
            <a:extLst>
              <a:ext uri="{FF2B5EF4-FFF2-40B4-BE49-F238E27FC236}">
                <a16:creationId xmlns:a16="http://schemas.microsoft.com/office/drawing/2014/main" id="{39F26A9E-5222-4560-8109-E3A69170DF33}"/>
              </a:ext>
            </a:extLst>
          </p:cNvPr>
          <p:cNvSpPr txBox="1"/>
          <p:nvPr/>
        </p:nvSpPr>
        <p:spPr>
          <a:xfrm>
            <a:off x="5669280" y="524256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Полином 9-й степени по 10 точкам проходит через каждую. Пунктир </a:t>
            </a:r>
            <a:r>
              <a:rPr lang="ru-RU" sz="1200" dirty="0">
                <a:solidFill>
                  <a:schemeClr val="tx2"/>
                </a:solidFill>
              </a:rPr>
              <a:t>-</a:t>
            </a:r>
            <a:r>
              <a:rPr lang="en-US" sz="1200" dirty="0">
                <a:solidFill>
                  <a:schemeClr val="tx2"/>
                </a:solidFill>
              </a:rPr>
              <a:t> истинная зависимость.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1 · ВВЕДЕНИЕ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Что такое регуляризация</a:t>
            </a:r>
            <a:endParaRPr lang="en-US" sz="3200" dirty="0"/>
          </a:p>
        </p:txBody>
      </p:sp>
      <p:sp>
        <p:nvSpPr>
          <p:cNvPr id="5" name="text"/>
          <p:cNvSpPr txBox="1"/>
          <p:nvPr/>
        </p:nvSpPr>
        <p:spPr>
          <a:xfrm>
            <a:off x="538480" y="1783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Любое изменение алгоритма обучения, которое уменьшает ошибку на новых данных, а </a:t>
            </a:r>
            <a:r>
              <a:rPr lang="ru-RU" sz="2200" b="1" dirty="0">
                <a:solidFill>
                  <a:schemeClr val="tx1"/>
                </a:solidFill>
              </a:rPr>
              <a:t>не на обучающей </a:t>
            </a:r>
            <a:r>
              <a:rPr lang="ru-RU" sz="2200" b="1" dirty="0"/>
              <a:t>выборке</a:t>
            </a:r>
            <a:r>
              <a:rPr lang="en-US" sz="2200" b="1" dirty="0">
                <a:solidFill>
                  <a:schemeClr val="tx1"/>
                </a:solidFill>
              </a:rPr>
              <a:t>. [1]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48640" y="3154680"/>
            <a:ext cx="5410048" cy="21031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ru-RU" sz="1600" b="1" dirty="0">
                <a:solidFill>
                  <a:schemeClr val="tx1"/>
                </a:solidFill>
              </a:rPr>
              <a:t>Явная</a:t>
            </a:r>
            <a:r>
              <a:rPr lang="en-US" sz="1600" b="1" dirty="0"/>
              <a:t>: </a:t>
            </a:r>
            <a:r>
              <a:rPr lang="ru-RU" sz="1600" b="1" dirty="0">
                <a:solidFill>
                  <a:schemeClr val="tx1"/>
                </a:solidFill>
              </a:rPr>
              <a:t>штраф </a:t>
            </a:r>
            <a:r>
              <a:rPr lang="en-US" sz="1600" b="1" dirty="0">
                <a:solidFill>
                  <a:schemeClr val="tx1"/>
                </a:solidFill>
              </a:rPr>
              <a:t>в функционале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Q(w) = L(w) + λ · Ω(w)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L </a:t>
            </a:r>
            <a:r>
              <a:rPr lang="ru-RU" sz="1600" dirty="0"/>
              <a:t>– изначальная функция потерь</a:t>
            </a:r>
            <a:r>
              <a:rPr lang="en-US" sz="1600" dirty="0">
                <a:solidFill>
                  <a:schemeClr val="tx1"/>
                </a:solidFill>
              </a:rPr>
              <a:t>, Ω </a:t>
            </a:r>
            <a:r>
              <a:rPr lang="ru-RU" sz="1600" dirty="0"/>
              <a:t>- </a:t>
            </a:r>
            <a:r>
              <a:rPr lang="ru-RU" sz="1600" dirty="0">
                <a:solidFill>
                  <a:schemeClr val="tx1"/>
                </a:solidFill>
              </a:rPr>
              <a:t>штраф</a:t>
            </a:r>
            <a:r>
              <a:rPr lang="en-US" sz="1600" dirty="0">
                <a:solidFill>
                  <a:schemeClr val="tx1"/>
                </a:solidFill>
              </a:rPr>
              <a:t>, λ </a:t>
            </a:r>
            <a:r>
              <a:rPr lang="ru-RU" sz="1600" dirty="0">
                <a:solidFill>
                  <a:schemeClr val="tx1"/>
                </a:solidFill>
              </a:rPr>
              <a:t>–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ru-RU" sz="1600" dirty="0">
                <a:solidFill>
                  <a:schemeClr val="tx1"/>
                </a:solidFill>
              </a:rPr>
              <a:t>коэффициент регуляризации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L1, L2, </a:t>
            </a:r>
            <a:r>
              <a:rPr lang="en-US" sz="1200" dirty="0" err="1">
                <a:solidFill>
                  <a:schemeClr val="tx2"/>
                </a:solidFill>
              </a:rPr>
              <a:t>ElasticNet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6233008" y="3154680"/>
            <a:ext cx="5410048" cy="21031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Неявная</a:t>
            </a:r>
            <a:r>
              <a:rPr lang="en-US" sz="1600" b="1" dirty="0"/>
              <a:t>:</a:t>
            </a:r>
            <a:r>
              <a:rPr lang="en-US" sz="1600" b="1" dirty="0">
                <a:solidFill>
                  <a:schemeClr val="tx1"/>
                </a:solidFill>
              </a:rPr>
              <a:t> ограничение модели или обучения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ru-RU" sz="1600" dirty="0"/>
              <a:t>Ограничиваем</a:t>
            </a:r>
            <a:r>
              <a:rPr lang="en-US" sz="1600" dirty="0">
                <a:solidFill>
                  <a:schemeClr val="tx1"/>
                </a:solidFill>
              </a:rPr>
              <a:t>: </a:t>
            </a:r>
            <a:r>
              <a:rPr lang="ru-RU" sz="1600" dirty="0">
                <a:solidFill>
                  <a:schemeClr val="tx1"/>
                </a:solidFill>
              </a:rPr>
              <a:t>как </a:t>
            </a:r>
            <a:r>
              <a:rPr lang="en-US" sz="1600" dirty="0">
                <a:solidFill>
                  <a:schemeClr val="tx1"/>
                </a:solidFill>
              </a:rPr>
              <a:t>и сколько модель учится.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глубина дерева, </a:t>
            </a:r>
            <a:r>
              <a:rPr lang="ru-RU" sz="1200" dirty="0">
                <a:solidFill>
                  <a:schemeClr val="tx2"/>
                </a:solidFill>
              </a:rPr>
              <a:t>ранняя остановка</a:t>
            </a:r>
            <a:r>
              <a:rPr lang="en-US" sz="1200" dirty="0">
                <a:solidFill>
                  <a:schemeClr val="tx2"/>
                </a:solidFill>
              </a:rPr>
              <a:t>, dropout, бэггинг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1 · ВВЕДЕНИЕ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Bias-variance decomposition</a:t>
            </a:r>
            <a:endParaRPr lang="en-US" sz="3200" dirty="0"/>
          </a:p>
        </p:txBody>
      </p:sp>
      <p:sp>
        <p:nvSpPr>
          <p:cNvPr id="5" name="formula box"/>
          <p:cNvSpPr/>
          <p:nvPr/>
        </p:nvSpPr>
        <p:spPr>
          <a:xfrm>
            <a:off x="548640" y="1325880"/>
            <a:ext cx="11094415" cy="100584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E[(y − a(x))²] = Bias² + Var + σ²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y = f(x) + ε, шум с </a:t>
            </a:r>
            <a:r>
              <a:rPr lang="en-US" sz="1200" dirty="0" err="1">
                <a:solidFill>
                  <a:schemeClr val="tx2"/>
                </a:solidFill>
              </a:rPr>
              <a:t>дисперсией</a:t>
            </a:r>
            <a:r>
              <a:rPr lang="en-US" sz="1200" dirty="0">
                <a:solidFill>
                  <a:schemeClr val="tx2"/>
                </a:solidFill>
              </a:rPr>
              <a:t> σ²</a:t>
            </a:r>
            <a:endParaRPr lang="en-US" sz="2200" dirty="0"/>
          </a:p>
        </p:txBody>
      </p:sp>
      <p:sp>
        <p:nvSpPr>
          <p:cNvPr id="6" name="card"/>
          <p:cNvSpPr/>
          <p:nvPr/>
        </p:nvSpPr>
        <p:spPr>
          <a:xfrm>
            <a:off x="548640" y="2560320"/>
            <a:ext cx="530352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52400" tIns="114300" rIns="152400" bIns="11430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Смещение (bias)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Bias = E[a(x)] − f(x)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Насколько </a:t>
            </a:r>
            <a:r>
              <a:rPr lang="ru-RU" sz="1600" dirty="0"/>
              <a:t>модель</a:t>
            </a:r>
            <a:r>
              <a:rPr lang="en-US" sz="1600" dirty="0">
                <a:solidFill>
                  <a:schemeClr val="tx1"/>
                </a:solidFill>
              </a:rPr>
              <a:t> далека от истины. 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548640" y="3886200"/>
            <a:ext cx="530352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52400" tIns="114300" rIns="152400" bIns="11430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Разброс (variance)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Var = E[(a(x) − E[a(x)])²]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Насколько модель меняется от выборки к выборке. 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5212080"/>
            <a:ext cx="530352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52400" tIns="114300" rIns="152400" bIns="11430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Шум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σ² = Var(ε)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От модели не зависит.</a:t>
            </a:r>
            <a:endParaRPr lang="en-US" sz="1600" dirty="0"/>
          </a:p>
        </p:txBody>
      </p:sp>
      <p:pic>
        <p:nvPicPr>
          <p:cNvPr id="9" name="Смещение, разброс и общая ошибка от сложности модели" descr="Смещение, разброс и общая ошибка от сложности модели">
            <a:extLst>
              <a:ext uri="{FF2B5EF4-FFF2-40B4-BE49-F238E27FC236}">
                <a16:creationId xmlns:a16="http://schemas.microsoft.com/office/drawing/2014/main" id="{162D1A7A-7F25-480C-9C93-0A81987958B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781455"/>
            <a:ext cx="5516575" cy="33982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2 · ЛИНЕЙНЫЕ МОДЕЛИ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Зачем регуляризовать линейную модель</a:t>
            </a:r>
            <a:endParaRPr lang="en-US" sz="3200" dirty="0"/>
          </a:p>
        </p:txBody>
      </p:sp>
      <p:sp>
        <p:nvSpPr>
          <p:cNvPr id="11" name="formula box"/>
          <p:cNvSpPr/>
          <p:nvPr/>
        </p:nvSpPr>
        <p:spPr>
          <a:xfrm>
            <a:off x="548640" y="1783080"/>
            <a:ext cx="11091672" cy="14173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Метод наименьших квадратов:   </a:t>
            </a:r>
            <a:r>
              <a:rPr lang="ru-RU" sz="16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w* = (XᵀX)⁻¹ Xᵀy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ru-RU" sz="22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Q(w) = ‖y − Xw‖² + λ · Ω(w)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ru-RU" sz="1200" dirty="0">
                <a:solidFill>
                  <a:schemeClr val="tx2"/>
                </a:solidFill>
              </a:rPr>
              <a:t>Ω(w) — штраф за размер весов, λ — сила штрафа</a:t>
            </a:r>
          </a:p>
        </p:txBody>
      </p:sp>
      <p:sp>
        <p:nvSpPr>
          <p:cNvPr id="12" name="card"/>
          <p:cNvSpPr/>
          <p:nvPr/>
        </p:nvSpPr>
        <p:spPr>
          <a:xfrm>
            <a:off x="548640" y="3474720"/>
            <a:ext cx="3514344" cy="2286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ru-RU" sz="1600" b="1" dirty="0">
                <a:solidFill>
                  <a:schemeClr val="tx1"/>
                </a:solidFill>
              </a:rPr>
              <a:t>Коррелирующие признаки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XᵀX почти вырождена, обратная матрица содержит огромные числа.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Веса большие, разных знаков, скачут от выборки к выборке.</a:t>
            </a:r>
          </a:p>
        </p:txBody>
      </p:sp>
      <p:sp>
        <p:nvSpPr>
          <p:cNvPr id="13" name="card"/>
          <p:cNvSpPr/>
          <p:nvPr/>
        </p:nvSpPr>
        <p:spPr>
          <a:xfrm>
            <a:off x="4337304" y="3474720"/>
            <a:ext cx="3514344" cy="2286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ru-RU" sz="1600" b="1" dirty="0">
                <a:solidFill>
                  <a:schemeClr val="tx1"/>
                </a:solidFill>
              </a:rPr>
              <a:t>Много признаков (p ≳ n)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XᵀX вырождена: решений бесконечно много.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Модель идеально подгоняет обучение вместе с шумом.</a:t>
            </a:r>
          </a:p>
        </p:txBody>
      </p:sp>
      <p:sp>
        <p:nvSpPr>
          <p:cNvPr id="14" name="card"/>
          <p:cNvSpPr/>
          <p:nvPr/>
        </p:nvSpPr>
        <p:spPr>
          <a:xfrm>
            <a:off x="8125968" y="3474720"/>
            <a:ext cx="3514344" cy="2286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ru-RU" sz="1600" b="1" dirty="0">
                <a:solidFill>
                  <a:schemeClr val="tx1"/>
                </a:solidFill>
              </a:rPr>
              <a:t>Что делает штраф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Не даёт весам расти.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Чуть больше смещения — заметно меньше разброса.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2 · ЛИНЕЙНЫЕ МОДЕЛИ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L2-регуляризация (Ridge)</a:t>
            </a:r>
            <a:endParaRPr lang="en-US" sz="3200" dirty="0"/>
          </a:p>
        </p:txBody>
      </p:sp>
      <p:sp>
        <p:nvSpPr>
          <p:cNvPr id="11" name="formula box"/>
          <p:cNvSpPr/>
          <p:nvPr/>
        </p:nvSpPr>
        <p:spPr>
          <a:xfrm>
            <a:off x="548640" y="1783080"/>
            <a:ext cx="11091672" cy="14173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ru-RU" sz="22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Q(w) = ‖y − Xw‖² + λ · ‖w‖₂²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ru-RU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w* = (XᵀX + λI)⁻¹ Xᵀy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ru-RU" sz="1200" dirty="0">
                <a:solidFill>
                  <a:schemeClr val="tx2"/>
                </a:solidFill>
              </a:rPr>
              <a:t>λI делает матрицу обратимой при любом λ &gt; 0 [4]</a:t>
            </a:r>
          </a:p>
        </p:txBody>
      </p:sp>
      <p:sp>
        <p:nvSpPr>
          <p:cNvPr id="12" name="card"/>
          <p:cNvSpPr/>
          <p:nvPr/>
        </p:nvSpPr>
        <p:spPr>
          <a:xfrm>
            <a:off x="548640" y="3474720"/>
            <a:ext cx="5408676" cy="2331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ru-RU" sz="1600" b="1" dirty="0">
                <a:solidFill>
                  <a:schemeClr val="tx1"/>
                </a:solidFill>
              </a:rPr>
              <a:t>Что происходит с весами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Сжимаются к нулю, но не равны нулю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Коррелирующие признаки делят вес между собой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Чем больше λ, тем сильнее сжатие</a:t>
            </a:r>
          </a:p>
        </p:txBody>
      </p:sp>
      <p:sp>
        <p:nvSpPr>
          <p:cNvPr id="13" name="card"/>
          <p:cNvSpPr/>
          <p:nvPr/>
        </p:nvSpPr>
        <p:spPr>
          <a:xfrm>
            <a:off x="6231636" y="3474720"/>
            <a:ext cx="5408676" cy="2331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ru-RU" sz="1600" b="1" dirty="0">
                <a:solidFill>
                  <a:schemeClr val="tx1"/>
                </a:solidFill>
              </a:rPr>
              <a:t>На практике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Признаки масштабируем: штраф зависит от шкалы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Свободный член w₀ не штрафуют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2 · ЛИНЕЙНЫЕ МОДЕЛИ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L1-регуляризация (Lasso)</a:t>
            </a:r>
            <a:endParaRPr lang="en-US" sz="3200" dirty="0"/>
          </a:p>
        </p:txBody>
      </p:sp>
      <p:sp>
        <p:nvSpPr>
          <p:cNvPr id="11" name="formula box"/>
          <p:cNvSpPr/>
          <p:nvPr/>
        </p:nvSpPr>
        <p:spPr>
          <a:xfrm>
            <a:off x="548640" y="1783080"/>
            <a:ext cx="11091672" cy="12344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ru-RU" sz="22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Q(w) = ‖y − Xw‖² + λ · ‖w‖₁,     ‖w‖₁ = Σ |wⱼ|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ru-RU" sz="1200" dirty="0">
                <a:solidFill>
                  <a:schemeClr val="tx2"/>
                </a:solidFill>
              </a:rPr>
              <a:t>Σ — по всем признакам, j = 1…p. Lasso — оператор наименьшего абсолютного сжатия и отбора [4]</a:t>
            </a:r>
          </a:p>
        </p:txBody>
      </p:sp>
      <p:sp>
        <p:nvSpPr>
          <p:cNvPr id="12" name="card"/>
          <p:cNvSpPr/>
          <p:nvPr/>
        </p:nvSpPr>
        <p:spPr>
          <a:xfrm>
            <a:off x="548640" y="3291840"/>
            <a:ext cx="5408676" cy="2514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ru-RU" sz="1600" b="1" dirty="0">
                <a:solidFill>
                  <a:schemeClr val="tx1"/>
                </a:solidFill>
              </a:rPr>
              <a:t>Что происходит с весами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Часть весов обращается ровно в ноль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Встроенный отбор признаков: модель разреженная и интерпретируемая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Решения в явном виде нет (|w| не дифференцируем в нуле): координатный спуск</a:t>
            </a:r>
          </a:p>
        </p:txBody>
      </p:sp>
      <p:sp>
        <p:nvSpPr>
          <p:cNvPr id="13" name="card"/>
          <p:cNvSpPr/>
          <p:nvPr/>
        </p:nvSpPr>
        <p:spPr>
          <a:xfrm>
            <a:off x="6231636" y="3291840"/>
            <a:ext cx="5408676" cy="2514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ru-RU" sz="1600" b="1" dirty="0">
                <a:solidFill>
                  <a:schemeClr val="tx1"/>
                </a:solidFill>
              </a:rPr>
              <a:t>Ограничения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Из группы коррелирующих признаков оставляет один — выбор нестабилен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При p &gt; n оставляет не больше n признаков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2 · ЛИНЕЙНЫЕ МОДЕЛИ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Почему L1 обнуляет веса, а L2 нет</a:t>
            </a:r>
            <a:endParaRPr lang="en-US" sz="3200" dirty="0"/>
          </a:p>
        </p:txBody>
      </p:sp>
      <p:pic>
        <p:nvPicPr>
          <p:cNvPr id="11" name="L1 и L2: геометрия" descr="Круг (L2) и ромб (L1) с линиями уровня ошибки; у ромба касание в углу на оси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6949440" cy="3243072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548640" y="5074920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ru-RU" sz="1200" dirty="0">
                <a:solidFill>
                  <a:schemeClr val="tx2"/>
                </a:solidFill>
              </a:rPr>
              <a:t>Пунктир — линии уровня ошибки, серая область — допустимые веса, точка — решение.</a:t>
            </a:r>
          </a:p>
        </p:txBody>
      </p:sp>
      <p:sp>
        <p:nvSpPr>
          <p:cNvPr id="13" name="card"/>
          <p:cNvSpPr/>
          <p:nvPr/>
        </p:nvSpPr>
        <p:spPr>
          <a:xfrm>
            <a:off x="7818120" y="1783080"/>
            <a:ext cx="3822192" cy="40233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ru-RU" sz="1600" b="1" dirty="0">
                <a:solidFill>
                  <a:schemeClr val="tx1"/>
                </a:solidFill>
              </a:rPr>
              <a:t>Задача с ограничением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ru-RU" sz="18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min ‖y − Xw‖²  при  ‖w‖ ≤ t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Решение — первое касание эллипса ошибки и области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Углы ромба лежат на осях: касание в углу — нулевой вес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2 · ЛИНЕЙНЫЕ МОДЕЛИ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L1 и L2: сравнение</a:t>
            </a:r>
            <a:endParaRPr lang="en-US" sz="320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503517"/>
              </p:ext>
            </p:extLst>
          </p:nvPr>
        </p:nvGraphicFramePr>
        <p:xfrm>
          <a:off x="548640" y="1783080"/>
          <a:ext cx="11091672" cy="38100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 (Ridge)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 (Lasso)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Штраф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λ · Σ wⱼ²   (j = 1…p)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λ · Σ |wⱼ|   (j = 1…p)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Веса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сжимаются, но не равны нулю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часть весов ровно ноль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Отбор признаков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да, встроенный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Коррелирующие признаки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делят вес между собой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остаётся один, остальные — ноль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Решение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аналитическое и численное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только численное (координатный спуск)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Когда брать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много слабых полезных признаков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мало важных признаков, нужна интерпретация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2 · ЛИНЕЙНЫЕ МОДЕЛИ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ElasticNet: L1 + L2</a:t>
            </a:r>
            <a:endParaRPr lang="en-US" sz="3200" dirty="0"/>
          </a:p>
        </p:txBody>
      </p:sp>
      <p:sp>
        <p:nvSpPr>
          <p:cNvPr id="11" name="formula box"/>
          <p:cNvSpPr/>
          <p:nvPr/>
        </p:nvSpPr>
        <p:spPr>
          <a:xfrm>
            <a:off x="548640" y="1783080"/>
            <a:ext cx="11091672" cy="12344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ru-RU" sz="22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Q(w) = ‖y − Xw‖² + λ · ( ρ‖w‖₁ + (1 − ρ)‖w‖₂² )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ru-RU" sz="1200" dirty="0">
                <a:solidFill>
                  <a:schemeClr val="tx2"/>
                </a:solidFill>
              </a:rPr>
              <a:t>ρ ∈ [0, 1] — доля L1: ρ = 1 — Lasso, ρ = 0 — Ridge [4]</a:t>
            </a:r>
          </a:p>
        </p:txBody>
      </p:sp>
      <p:sp>
        <p:nvSpPr>
          <p:cNvPr id="12" name="card"/>
          <p:cNvSpPr/>
          <p:nvPr/>
        </p:nvSpPr>
        <p:spPr>
          <a:xfrm>
            <a:off x="548640" y="3291840"/>
            <a:ext cx="5408676" cy="2514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ru-RU" sz="1600" b="1" dirty="0">
                <a:solidFill>
                  <a:schemeClr val="tx1"/>
                </a:solidFill>
              </a:rPr>
              <a:t>Лучшее из двух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От Lasso: обнуляет лишние веса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От Ridge: устойчив к корреляциям — коррелирующие признаки входят вместе (grouping effect)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Не ограничен n признаками при p &gt; n</a:t>
            </a:r>
          </a:p>
        </p:txBody>
      </p:sp>
      <p:sp>
        <p:nvSpPr>
          <p:cNvPr id="13" name="card"/>
          <p:cNvSpPr/>
          <p:nvPr/>
        </p:nvSpPr>
        <p:spPr>
          <a:xfrm>
            <a:off x="6231636" y="3291840"/>
            <a:ext cx="5408676" cy="2514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ru-RU" sz="1600" b="1" dirty="0">
                <a:solidFill>
                  <a:schemeClr val="tx1"/>
                </a:solidFill>
              </a:rPr>
              <a:t>Гиперпараметры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Два параметра: λ (сила) и ρ (l1_ratio)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Подбор по сетке с кросс-валидацией (ElasticNetCV)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Типичный случай: p ≫ n и группы коррелирующих признаков — гены, слова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2 · ЛИНЕЙНЫЕ МОДЕЛИ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Теория: Lp-штрафы и разреживание</a:t>
            </a:r>
            <a:endParaRPr lang="en-US" sz="3200" dirty="0"/>
          </a:p>
        </p:txBody>
      </p:sp>
      <p:pic>
        <p:nvPicPr>
          <p:cNvPr id="11" name="Lp-шары" descr="Единичные шары Lp для p = 0, 0.5, 1, 2,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288" y="1645920"/>
            <a:ext cx="8961120" cy="2150669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548640" y="3931920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ru-RU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Ω(w) = Σ |wⱼ|ᵖ</a:t>
            </a:r>
            <a:r>
              <a:rPr lang="ru-RU" sz="2000" dirty="0">
                <a:solidFill>
                  <a:schemeClr val="tx1"/>
                </a:solidFill>
              </a:rPr>
              <a:t>,       ‖w‖ₚ = (Σ |wⱼ|ᵖ)^(1/p),   j = 1…p</a:t>
            </a:r>
          </a:p>
        </p:txBody>
      </p:sp>
      <p:sp>
        <p:nvSpPr>
          <p:cNvPr id="13" name="card"/>
          <p:cNvSpPr/>
          <p:nvPr/>
        </p:nvSpPr>
        <p:spPr>
          <a:xfrm>
            <a:off x="548640" y="4572000"/>
            <a:ext cx="2635758" cy="17373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ru-RU" sz="1400" b="1" dirty="0">
                <a:solidFill>
                  <a:schemeClr val="tx1"/>
                </a:solidFill>
              </a:rPr>
              <a:t>p = 0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ru-RU" sz="1400" dirty="0">
                <a:solidFill>
                  <a:schemeClr val="tx1"/>
                </a:solidFill>
              </a:rPr>
              <a:t>Число ненулевых весов. Идеальный отбор, но перебор NP-труден.</a:t>
            </a:r>
          </a:p>
        </p:txBody>
      </p:sp>
      <p:sp>
        <p:nvSpPr>
          <p:cNvPr id="14" name="card"/>
          <p:cNvSpPr/>
          <p:nvPr/>
        </p:nvSpPr>
        <p:spPr>
          <a:xfrm>
            <a:off x="3367278" y="4572000"/>
            <a:ext cx="2635758" cy="17373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ru-RU" sz="1400" b="1" dirty="0">
                <a:solidFill>
                  <a:schemeClr val="tx1"/>
                </a:solidFill>
              </a:rPr>
              <a:t>0 &lt; p &lt; 1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ru-RU" sz="1400" dirty="0">
                <a:solidFill>
                  <a:schemeClr val="tx1"/>
                </a:solidFill>
              </a:rPr>
              <a:t>Разреживает сильнее L1, но область невыпуклая: много локальных минимумов.</a:t>
            </a:r>
          </a:p>
        </p:txBody>
      </p:sp>
      <p:sp>
        <p:nvSpPr>
          <p:cNvPr id="15" name="card"/>
          <p:cNvSpPr/>
          <p:nvPr/>
        </p:nvSpPr>
        <p:spPr>
          <a:xfrm>
            <a:off x="6185916" y="4572000"/>
            <a:ext cx="2635758" cy="17373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ru-RU" sz="1400" b="1" dirty="0">
                <a:solidFill>
                  <a:schemeClr val="tx1"/>
                </a:solidFill>
              </a:rPr>
              <a:t>p = 1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ru-RU" sz="1400" dirty="0">
                <a:solidFill>
                  <a:schemeClr val="tx1"/>
                </a:solidFill>
              </a:rPr>
              <a:t>Ближайший к L0 выпуклый штраф: углы на осях и удобная оптимизация.</a:t>
            </a:r>
          </a:p>
        </p:txBody>
      </p:sp>
      <p:sp>
        <p:nvSpPr>
          <p:cNvPr id="16" name="card"/>
          <p:cNvSpPr/>
          <p:nvPr/>
        </p:nvSpPr>
        <p:spPr>
          <a:xfrm>
            <a:off x="9004554" y="4572000"/>
            <a:ext cx="2635758" cy="17373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ru-RU" sz="1400" b="1" dirty="0">
                <a:solidFill>
                  <a:schemeClr val="tx1"/>
                </a:solidFill>
              </a:rPr>
              <a:t>p &gt; 1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ru-RU" sz="1400" dirty="0">
                <a:solidFill>
                  <a:schemeClr val="tx1"/>
                </a:solidFill>
              </a:rPr>
              <a:t>Углов нет — нулей нет. p = 2 — Ridge; p → ∞ давит на наибольший вес.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2 · ЛИНЕЙНЫЕ МОДЕЛИ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Гиперпараметр λ</a:t>
            </a:r>
            <a:endParaRPr lang="en-US" sz="3200" dirty="0"/>
          </a:p>
        </p:txBody>
      </p:sp>
      <p:pic>
        <p:nvPicPr>
          <p:cNvPr id="11" name="Пути весов" descr="Пути весов Ridge и Lasso при росте λ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6675120" cy="2670048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548640" y="452628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ru-RU" sz="1200" dirty="0">
                <a:solidFill>
                  <a:schemeClr val="tx2"/>
                </a:solidFill>
              </a:rPr>
              <a:t>Пути весов при росте λ: Ridge сжимает плавно, Lasso обнуляет веса по одному.</a:t>
            </a:r>
          </a:p>
        </p:txBody>
      </p:sp>
      <p:sp>
        <p:nvSpPr>
          <p:cNvPr id="13" name="note"/>
          <p:cNvSpPr/>
          <p:nvPr/>
        </p:nvSpPr>
        <p:spPr>
          <a:xfrm>
            <a:off x="548640" y="5029200"/>
            <a:ext cx="6675120" cy="777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ru-RU" sz="1600" b="1" dirty="0">
                <a:solidFill>
                  <a:schemeClr val="tx1"/>
                </a:solidFill>
              </a:rPr>
              <a:t>Правило:</a:t>
            </a:r>
            <a:r>
              <a:rPr lang="ru-RU" sz="1600" dirty="0">
                <a:solidFill>
                  <a:schemeClr val="tx1"/>
                </a:solidFill>
              </a:rPr>
              <a:t> λ подбираем по валидации, а не по ошибке на обучении — там лучшим всегда будет λ = 0.</a:t>
            </a:r>
          </a:p>
        </p:txBody>
      </p:sp>
      <p:sp>
        <p:nvSpPr>
          <p:cNvPr id="14" name="card"/>
          <p:cNvSpPr/>
          <p:nvPr/>
        </p:nvSpPr>
        <p:spPr>
          <a:xfrm>
            <a:off x="7498080" y="1783080"/>
            <a:ext cx="4142232" cy="40233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ru-RU" sz="1600" b="1" dirty="0">
                <a:solidFill>
                  <a:schemeClr val="tx1"/>
                </a:solidFill>
              </a:rPr>
              <a:t>Как выбирать λ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λ → 0: обычный МНК, переобучение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λ → ∞: все веса → 0, недообучение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Подбор: кросс-валидация по логарифмической сетке (RidgeCV, LassoCV)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В sklearn alpha = λ; в SVM и LogisticRegression C = 1/λ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3 · ДЕРЕВЬЯ И АНСАМБЛИ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Почему деревья переобучаются</a:t>
            </a:r>
            <a:endParaRPr lang="en-US" sz="3200" dirty="0"/>
          </a:p>
        </p:txBody>
      </p:sp>
      <p:pic>
        <p:nvPicPr>
          <p:cNvPr id="11" name="Дерево: недо- и переобучение" descr="Дерево регрессии глубины 1, 2 и без ограничений на 40 точках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528" y="1554480"/>
            <a:ext cx="9692640" cy="2843174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548640" y="452628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ru-RU" sz="1200" dirty="0">
                <a:solidFill>
                  <a:schemeClr val="tx2"/>
                </a:solidFill>
              </a:rPr>
              <a:t>Точки — обучающая выборка, пунктир — истинная зависимость.</a:t>
            </a:r>
          </a:p>
        </p:txBody>
      </p:sp>
      <p:sp>
        <p:nvSpPr>
          <p:cNvPr id="13" name="card"/>
          <p:cNvSpPr/>
          <p:nvPr/>
        </p:nvSpPr>
        <p:spPr>
          <a:xfrm>
            <a:off x="548640" y="4846320"/>
            <a:ext cx="3514344" cy="1508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ru-RU" sz="1400" b="1" dirty="0">
                <a:solidFill>
                  <a:schemeClr val="tx1"/>
                </a:solidFill>
              </a:rPr>
              <a:t>Растёт до чистых листьев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ru-RU" sz="1400" dirty="0">
                <a:solidFill>
                  <a:schemeClr val="tx1"/>
                </a:solidFill>
              </a:rPr>
              <a:t>Без ограничений делит выборку, пока ошибка не станет нулём: в пределе лист на объект.</a:t>
            </a:r>
          </a:p>
        </p:txBody>
      </p:sp>
      <p:sp>
        <p:nvSpPr>
          <p:cNvPr id="14" name="card"/>
          <p:cNvSpPr/>
          <p:nvPr/>
        </p:nvSpPr>
        <p:spPr>
          <a:xfrm>
            <a:off x="4337304" y="4846320"/>
            <a:ext cx="3514344" cy="1508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ru-RU" sz="1400" b="1" dirty="0">
                <a:solidFill>
                  <a:schemeClr val="tx1"/>
                </a:solidFill>
              </a:rPr>
              <a:t>Нестабильно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ru-RU" sz="1400" dirty="0">
                <a:solidFill>
                  <a:schemeClr val="tx1"/>
                </a:solidFill>
              </a:rPr>
              <a:t>Малое изменение данных меняет верхние разбиения, а с ними всё дерево: большой разброс.</a:t>
            </a:r>
          </a:p>
        </p:txBody>
      </p:sp>
      <p:sp>
        <p:nvSpPr>
          <p:cNvPr id="15" name="card"/>
          <p:cNvSpPr/>
          <p:nvPr/>
        </p:nvSpPr>
        <p:spPr>
          <a:xfrm>
            <a:off x="8125968" y="4846320"/>
            <a:ext cx="3514344" cy="1508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ru-RU" sz="1400" b="1" dirty="0">
                <a:solidFill>
                  <a:schemeClr val="tx1"/>
                </a:solidFill>
              </a:rPr>
              <a:t>Мало данных в узлах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ru-RU" sz="1400" dirty="0">
                <a:solidFill>
                  <a:schemeClr val="tx1"/>
                </a:solidFill>
              </a:rPr>
              <a:t>Чем глубже, тем меньше объектов в узле: ответ листа определяет шум.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3 · ДЕРЕВЬЯ И АНСАМБЛИ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Два способа ограничить дерево</a:t>
            </a:r>
            <a:endParaRPr lang="en-US" sz="3200" dirty="0"/>
          </a:p>
        </p:txBody>
      </p:sp>
      <p:sp>
        <p:nvSpPr>
          <p:cNvPr id="11" name="card"/>
          <p:cNvSpPr/>
          <p:nvPr/>
        </p:nvSpPr>
        <p:spPr>
          <a:xfrm>
            <a:off x="548640" y="1783080"/>
            <a:ext cx="5408676" cy="32461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ru-RU" sz="1600" b="1" dirty="0">
                <a:solidFill>
                  <a:schemeClr val="tx1"/>
                </a:solidFill>
              </a:rPr>
              <a:t>Ограничиваем рост (pre-pruning)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ru-RU" sz="1400" dirty="0">
                <a:solidFill>
                  <a:schemeClr val="tx2"/>
                </a:solidFill>
              </a:rPr>
              <a:t>Останавливаем построение заранее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глубина: max_depth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размер узла: min_samples_split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размер листа: min_samples_leaf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число листьев: max_leaf_nodes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выигрыш от разбиения: min_impurity_decrease</a:t>
            </a:r>
          </a:p>
        </p:txBody>
      </p:sp>
      <p:sp>
        <p:nvSpPr>
          <p:cNvPr id="12" name="card"/>
          <p:cNvSpPr/>
          <p:nvPr/>
        </p:nvSpPr>
        <p:spPr>
          <a:xfrm>
            <a:off x="6231636" y="1783080"/>
            <a:ext cx="5408676" cy="32461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ru-RU" sz="1600" b="1" dirty="0">
                <a:solidFill>
                  <a:schemeClr val="tx1"/>
                </a:solidFill>
              </a:rPr>
              <a:t>Обрезаем после (post-pruning)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ru-RU" sz="1400" dirty="0">
                <a:solidFill>
                  <a:schemeClr val="tx2"/>
                </a:solidFill>
              </a:rPr>
              <a:t>Строим полное дерево и убираем лишнее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Reduced error pruning — по валидационной выборке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Cost-complexity pruning — штраф за число листьев (ccp_alpha)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Pessimistic pruning (C4.5) — оценка ошибки без отдельной выборки</a:t>
            </a:r>
          </a:p>
        </p:txBody>
      </p:sp>
      <p:sp>
        <p:nvSpPr>
          <p:cNvPr id="13" name="note"/>
          <p:cNvSpPr/>
          <p:nvPr/>
        </p:nvSpPr>
        <p:spPr>
          <a:xfrm>
            <a:off x="548640" y="5303520"/>
            <a:ext cx="11091672" cy="8686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ru-RU" sz="1600" b="1" dirty="0">
                <a:solidFill>
                  <a:schemeClr val="tx1"/>
                </a:solidFill>
              </a:rPr>
              <a:t>Третий путь — ансамбли:</a:t>
            </a:r>
            <a:r>
              <a:rPr lang="ru-RU" sz="1600" dirty="0">
                <a:solidFill>
                  <a:schemeClr val="tx1"/>
                </a:solidFill>
              </a:rPr>
              <a:t> не ограничиваем одно дерево, а усредняем много деревьев (бэггинг, случайный лес).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3 · ДЕРЕВЬЯ И АНСАМБЛИ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Ограничение роста дерева</a:t>
            </a:r>
            <a:endParaRPr lang="en-US" sz="320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366762"/>
              </p:ext>
            </p:extLst>
          </p:nvPr>
        </p:nvGraphicFramePr>
        <p:xfrm>
          <a:off x="548640" y="1783080"/>
          <a:ext cx="11091672" cy="332232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Параметр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ограничивает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Сильнее регуляризация, если значение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max_depth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глубину дерева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меньше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min_samples_split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число объектов в узле для разбиения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больше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min_samples_leaf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число объектов в листе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больше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max_leaf_nodes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общее число листьев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меньше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min_impurity_decrease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минимальный выигрыш от разбиения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больше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max_features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число признаков, из которых ищем разбиение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меньше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note"/>
          <p:cNvSpPr/>
          <p:nvPr/>
        </p:nvSpPr>
        <p:spPr>
          <a:xfrm>
            <a:off x="548640" y="5303520"/>
            <a:ext cx="11091672" cy="9601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ru-RU" sz="1600" b="1" dirty="0">
                <a:solidFill>
                  <a:schemeClr val="tx1"/>
                </a:solidFill>
              </a:rPr>
              <a:t>Плюс:</a:t>
            </a:r>
            <a:r>
              <a:rPr lang="ru-RU" sz="1600" dirty="0">
                <a:solidFill>
                  <a:schemeClr val="tx1"/>
                </a:solidFill>
              </a:rPr>
              <a:t> быстро и дёшево. </a:t>
            </a:r>
            <a:r>
              <a:rPr lang="ru-RU" sz="1600" b="1" dirty="0">
                <a:solidFill>
                  <a:schemeClr val="tx1"/>
                </a:solidFill>
              </a:rPr>
              <a:t>Минус:</a:t>
            </a:r>
            <a:r>
              <a:rPr lang="ru-RU" sz="1600" dirty="0">
                <a:solidFill>
                  <a:schemeClr val="tx1"/>
                </a:solidFill>
              </a:rPr>
              <a:t> близорукость — разбиение без выигрыша может открывать полезные разбиения глубже, а мы уже остановились.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3 · ДЕРЕВЬЯ И АНСАМБЛИ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Обрезка дерева (post-pruning)</a:t>
            </a:r>
            <a:endParaRPr lang="en-US" sz="3200" dirty="0"/>
          </a:p>
        </p:txBody>
      </p:sp>
      <p:sp>
        <p:nvSpPr>
          <p:cNvPr id="11" name="formula box"/>
          <p:cNvSpPr/>
          <p:nvPr/>
        </p:nvSpPr>
        <p:spPr>
          <a:xfrm>
            <a:off x="548640" y="1783080"/>
            <a:ext cx="11091672" cy="12344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ru-RU" sz="22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</a:t>
            </a:r>
            <a:r>
              <a:rPr lang="ru-RU" sz="12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</a:t>
            </a:r>
            <a:r>
              <a:rPr lang="ru-RU" sz="22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(T) = R(T) + α · |T|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ru-RU" sz="1200" dirty="0">
                <a:solidFill>
                  <a:schemeClr val="tx2"/>
                </a:solidFill>
              </a:rPr>
              <a:t>R(T) — ошибка на обучении, |T| — число листьев, α ≥ 0 — цена одного листа</a:t>
            </a:r>
          </a:p>
        </p:txBody>
      </p:sp>
      <p:sp>
        <p:nvSpPr>
          <p:cNvPr id="12" name="card"/>
          <p:cNvSpPr/>
          <p:nvPr/>
        </p:nvSpPr>
        <p:spPr>
          <a:xfrm>
            <a:off x="548640" y="3291840"/>
            <a:ext cx="5408676" cy="2651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ru-RU" sz="1600" b="1" dirty="0">
                <a:solidFill>
                  <a:schemeClr val="tx1"/>
                </a:solidFill>
              </a:rPr>
              <a:t>Cost-complexity pruning (CART) [4]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Полное дерево T₀ → ряд вложенных поддеревьев T₀ ⊃ T₁ ⊃ … ⊃ корень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На каждом шаге убираем «слабейшее звено»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α выбираем кросс-валидацией (ccp_alpha)</a:t>
            </a:r>
          </a:p>
        </p:txBody>
      </p:sp>
      <p:sp>
        <p:nvSpPr>
          <p:cNvPr id="13" name="card"/>
          <p:cNvSpPr/>
          <p:nvPr/>
        </p:nvSpPr>
        <p:spPr>
          <a:xfrm>
            <a:off x="6231636" y="3291840"/>
            <a:ext cx="5408676" cy="2651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ru-RU" sz="1600" b="1" dirty="0">
                <a:solidFill>
                  <a:schemeClr val="tx1"/>
                </a:solidFill>
              </a:rPr>
              <a:t>Reduced error pruning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Нужна отдельная валидационная выборка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Идём снизу вверх: поддерево заменяем листом, если ошибка на валидации не растёт сильно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Не близоруко, но надо вырастить полное дерево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3 · ДЕРЕВЬЯ И АНСАМБЛИ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Бэггинг и случайный лес</a:t>
            </a:r>
            <a:endParaRPr lang="en-US" sz="3200" dirty="0"/>
          </a:p>
        </p:txBody>
      </p:sp>
      <p:sp>
        <p:nvSpPr>
          <p:cNvPr id="11" name="formula box"/>
          <p:cNvSpPr/>
          <p:nvPr/>
        </p:nvSpPr>
        <p:spPr>
          <a:xfrm>
            <a:off x="548640" y="1783080"/>
            <a:ext cx="11091672" cy="12344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ru-RU" sz="22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Var = ρσ² + (1 − ρ)σ² / B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ru-RU" sz="1200" dirty="0">
                <a:solidFill>
                  <a:schemeClr val="tx2"/>
                </a:solidFill>
              </a:rPr>
              <a:t>σ² — разброс одного дерева, ρ — корреляция деревьев, B — число деревьев</a:t>
            </a:r>
          </a:p>
        </p:txBody>
      </p:sp>
      <p:sp>
        <p:nvSpPr>
          <p:cNvPr id="12" name="card"/>
          <p:cNvSpPr/>
          <p:nvPr/>
        </p:nvSpPr>
        <p:spPr>
          <a:xfrm>
            <a:off x="548640" y="3246120"/>
            <a:ext cx="6126480" cy="146304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ru-RU" sz="1600" b="1" dirty="0">
                <a:solidFill>
                  <a:schemeClr val="tx1"/>
                </a:solidFill>
              </a:rPr>
              <a:t>Бэггинг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ru-RU" sz="1400" dirty="0">
                <a:solidFill>
                  <a:schemeClr val="tx1"/>
                </a:solidFill>
              </a:rPr>
              <a:t>Каждое дерево учится на бутстрэп-выборке, ответы усредняем. Деревья глубокие: малое смещение, а усреднение убирает разброс.</a:t>
            </a:r>
          </a:p>
        </p:txBody>
      </p:sp>
      <p:sp>
        <p:nvSpPr>
          <p:cNvPr id="13" name="card"/>
          <p:cNvSpPr/>
          <p:nvPr/>
        </p:nvSpPr>
        <p:spPr>
          <a:xfrm>
            <a:off x="548640" y="4846320"/>
            <a:ext cx="6126480" cy="146304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ru-RU" sz="1600" b="1" dirty="0">
                <a:solidFill>
                  <a:schemeClr val="tx1"/>
                </a:solidFill>
              </a:rPr>
              <a:t>Случайный лес [5]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ru-RU" sz="1400" dirty="0">
                <a:solidFill>
                  <a:schemeClr val="tx1"/>
                </a:solidFill>
              </a:rPr>
              <a:t>В каждом узле разбиение ищем среди случайных m признаков. Деревья меньше похожи (ρ ↓) — усреднение работает лучше.</a:t>
            </a:r>
          </a:p>
        </p:txBody>
      </p:sp>
      <p:pic>
        <p:nvPicPr>
          <p:cNvPr id="14" name="Лес против одного дерева" descr="Ошибка случайного леса на тесте в зависимости от числа деревьев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3246120"/>
            <a:ext cx="4572000" cy="313508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3 · ДЕРЕВЬЯ И АНСАМБЛИ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Случайный лес: ручки регуляризации</a:t>
            </a:r>
            <a:endParaRPr lang="en-US" sz="320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/>
        </p:nvGraphicFramePr>
        <p:xfrm>
          <a:off x="548640" y="1783080"/>
          <a:ext cx="11091672" cy="3425952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Параметр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Эффект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Сильнее регуляризация, если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n_estimators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больше деревьев — меньше разброса, переобучения нет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 больше (до плато)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max_features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деревья меньше похожи друг на друга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 меньше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max_samples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размер бутстрэп-выборки для каждого дерева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 меньше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max_depth, min_samples_leaf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ограничения отдельных деревьев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глубина меньше, лист больше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ExtraTrees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случайные пороги разбиений вместо лучших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берём вместо RandomForest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note"/>
          <p:cNvSpPr/>
          <p:nvPr/>
        </p:nvSpPr>
        <p:spPr>
          <a:xfrm>
            <a:off x="548640" y="5394960"/>
            <a:ext cx="11091672" cy="10972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ru-RU" sz="1600" b="1" dirty="0">
                <a:solidFill>
                  <a:schemeClr val="tx1"/>
                </a:solidFill>
              </a:rPr>
              <a:t>Примечание:</a:t>
            </a:r>
            <a:r>
              <a:rPr lang="ru-RU" sz="1600" dirty="0">
                <a:solidFill>
                  <a:schemeClr val="tx1"/>
                </a:solidFill>
              </a:rPr>
              <a:t> лес защищён не полностью — при сильном шуме полностью выросшие деревья его запоминают, тогда помогает </a:t>
            </a:r>
            <a:r>
              <a:rPr lang="ru-RU" sz="1600" dirty="0" err="1">
                <a:solidFill>
                  <a:schemeClr val="tx1"/>
                </a:solidFill>
              </a:rPr>
              <a:t>min_samples_leaf</a:t>
            </a:r>
            <a:r>
              <a:rPr lang="ru-RU" sz="1600" dirty="0">
                <a:solidFill>
                  <a:schemeClr val="tx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4 · БУСТИНГ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Почему бустинг переобучается</a:t>
            </a:r>
            <a:endParaRPr lang="en-US" sz="3200" dirty="0"/>
          </a:p>
        </p:txBody>
      </p:sp>
      <p:sp>
        <p:nvSpPr>
          <p:cNvPr id="5" name="text"/>
          <p:cNvSpPr txBox="1"/>
          <p:nvPr/>
        </p:nvSpPr>
        <p:spPr>
          <a:xfrm>
            <a:off x="548640" y="1783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a(x) ← a(x) + η · b(x)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Каждое новое дерево b </a:t>
            </a:r>
            <a:r>
              <a:rPr lang="ru-RU" sz="1600" dirty="0">
                <a:solidFill>
                  <a:schemeClr val="tx2"/>
                </a:solidFill>
              </a:rPr>
              <a:t>обучается на ошибках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ru-RU" sz="1600" dirty="0">
                <a:solidFill>
                  <a:schemeClr val="tx2"/>
                </a:solidFill>
              </a:rPr>
              <a:t>текущей модели</a:t>
            </a:r>
            <a:r>
              <a:rPr lang="en-US" sz="1600" dirty="0">
                <a:solidFill>
                  <a:schemeClr val="tx2"/>
                </a:solidFill>
              </a:rPr>
              <a:t>.</a:t>
            </a:r>
            <a:endParaRPr lang="en-US" sz="2200" dirty="0"/>
          </a:p>
        </p:txBody>
      </p:sp>
      <p:sp>
        <p:nvSpPr>
          <p:cNvPr id="6" name="card"/>
          <p:cNvSpPr/>
          <p:nvPr/>
        </p:nvSpPr>
        <p:spPr>
          <a:xfrm>
            <a:off x="548640" y="2834640"/>
            <a:ext cx="5410048" cy="17373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Случайный лес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Деревья строятся независимо и </a:t>
            </a:r>
            <a:r>
              <a:rPr lang="en-US" sz="1600" dirty="0" err="1">
                <a:solidFill>
                  <a:schemeClr val="tx1"/>
                </a:solidFill>
              </a:rPr>
              <a:t>усредняются</a:t>
            </a:r>
            <a:r>
              <a:rPr lang="en-US" sz="1600" dirty="0">
                <a:solidFill>
                  <a:schemeClr val="tx1"/>
                </a:solidFill>
              </a:rPr>
              <a:t>. Больше деревьев — не вредно.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6233008" y="2834640"/>
            <a:ext cx="5410048" cy="17373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Бустинг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Деревья исправляют ошибки предыдущих</a:t>
            </a:r>
            <a:r>
              <a:rPr lang="en-US" sz="1600" dirty="0">
                <a:solidFill>
                  <a:schemeClr val="tx1"/>
                </a:solidFill>
              </a:rPr>
              <a:t>. </a:t>
            </a:r>
            <a:r>
              <a:rPr lang="ru-RU" sz="1600" dirty="0"/>
              <a:t>Много </a:t>
            </a:r>
            <a:r>
              <a:rPr lang="ru-RU" sz="1600" dirty="0">
                <a:solidFill>
                  <a:schemeClr val="tx1"/>
                </a:solidFill>
              </a:rPr>
              <a:t>итераций</a:t>
            </a:r>
            <a:r>
              <a:rPr lang="ru-RU" sz="1600" dirty="0"/>
              <a:t>-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ru-RU" sz="1600" dirty="0">
                <a:solidFill>
                  <a:schemeClr val="tx1"/>
                </a:solidFill>
              </a:rPr>
              <a:t>модель начинает подгоняться</a:t>
            </a:r>
            <a:r>
              <a:rPr lang="en-US" sz="1600" dirty="0">
                <a:solidFill>
                  <a:schemeClr val="tx1"/>
                </a:solidFill>
              </a:rPr>
              <a:t> под шум.</a:t>
            </a:r>
            <a:endParaRPr lang="en-US" sz="1600" dirty="0"/>
          </a:p>
        </p:txBody>
      </p:sp>
      <p:sp>
        <p:nvSpPr>
          <p:cNvPr id="8" name="text"/>
          <p:cNvSpPr txBox="1"/>
          <p:nvPr/>
        </p:nvSpPr>
        <p:spPr>
          <a:xfrm>
            <a:off x="548640" y="48463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ru-RU" sz="2000" b="1" dirty="0">
                <a:solidFill>
                  <a:schemeClr val="tx1"/>
                </a:solidFill>
              </a:rPr>
              <a:t>Р</a:t>
            </a:r>
            <a:r>
              <a:rPr lang="en-US" sz="2000" b="1" dirty="0">
                <a:solidFill>
                  <a:schemeClr val="tx1"/>
                </a:solidFill>
              </a:rPr>
              <a:t>егуляризуем </a:t>
            </a:r>
            <a:r>
              <a:rPr lang="ru-RU" sz="2000" b="1" dirty="0">
                <a:solidFill>
                  <a:schemeClr val="tx1"/>
                </a:solidFill>
              </a:rPr>
              <a:t>процесс</a:t>
            </a:r>
            <a:r>
              <a:rPr lang="en-US" sz="2000" b="1" dirty="0">
                <a:solidFill>
                  <a:schemeClr val="tx1"/>
                </a:solidFill>
              </a:rPr>
              <a:t>: шаг, </a:t>
            </a:r>
            <a:r>
              <a:rPr lang="ru-RU" sz="2000" b="1" dirty="0">
                <a:solidFill>
                  <a:schemeClr val="tx1"/>
                </a:solidFill>
              </a:rPr>
              <a:t>число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ru-RU" sz="2000" b="1" dirty="0">
                <a:solidFill>
                  <a:schemeClr val="tx1"/>
                </a:solidFill>
              </a:rPr>
              <a:t>деревьев</a:t>
            </a:r>
            <a:r>
              <a:rPr lang="en-US" sz="2000" b="1" dirty="0">
                <a:solidFill>
                  <a:schemeClr val="tx1"/>
                </a:solidFill>
              </a:rPr>
              <a:t>, размер деревьев и значения в листьях.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4 · БУСТИНГ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Темп обучения и ранняя остановка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5410048" cy="2743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Темп обучения (shrinkage)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a(x) ← a(x) + η · b(x),  0 &lt; η ≤ 1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Каждое дерево вносит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ru-RU" sz="1600" dirty="0">
                <a:solidFill>
                  <a:schemeClr val="tx1"/>
                </a:solidFill>
              </a:rPr>
              <a:t>только часть</a:t>
            </a:r>
            <a:r>
              <a:rPr lang="en-US" sz="1600" dirty="0">
                <a:solidFill>
                  <a:schemeClr val="tx1"/>
                </a:solidFill>
              </a:rPr>
              <a:t> своей поправки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Меньшей </a:t>
            </a:r>
            <a:r>
              <a:rPr lang="ru-RU" sz="1600" dirty="0" err="1">
                <a:solidFill>
                  <a:schemeClr val="tx1"/>
                </a:solidFill>
              </a:rPr>
              <a:t>гиперпараметр</a:t>
            </a:r>
            <a:r>
              <a:rPr lang="ru-RU" sz="1600" dirty="0">
                <a:solidFill>
                  <a:schemeClr val="tx1"/>
                </a:solidFill>
              </a:rPr>
              <a:t> требует </a:t>
            </a:r>
            <a:r>
              <a:rPr lang="ru-RU" sz="1600" dirty="0"/>
              <a:t>больше </a:t>
            </a:r>
            <a:r>
              <a:rPr lang="ru-RU" sz="1600" dirty="0">
                <a:solidFill>
                  <a:schemeClr val="tx1"/>
                </a:solidFill>
              </a:rPr>
              <a:t>деревьев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ru-RU" sz="1600" dirty="0">
                <a:solidFill>
                  <a:schemeClr val="tx1"/>
                </a:solidFill>
              </a:rPr>
              <a:t>но качество на тесте выше </a:t>
            </a:r>
            <a:r>
              <a:rPr lang="en-US" sz="1600" dirty="0">
                <a:solidFill>
                  <a:schemeClr val="tx1"/>
                </a:solidFill>
              </a:rPr>
              <a:t>[2]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6233008" y="1783080"/>
            <a:ext cx="5410048" cy="2743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Ранняя остановка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Число деревьев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ru-RU" sz="1600" dirty="0"/>
              <a:t>– главный показатель </a:t>
            </a:r>
            <a:r>
              <a:rPr lang="ru-RU" sz="1600" dirty="0">
                <a:solidFill>
                  <a:schemeClr val="tx1"/>
                </a:solidFill>
              </a:rPr>
              <a:t>сложности бустинга.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Следим за метрикой </a:t>
            </a:r>
            <a:r>
              <a:rPr lang="ru-RU" sz="1600" dirty="0"/>
              <a:t>на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ru-RU" sz="1600" dirty="0"/>
              <a:t>тесте</a:t>
            </a:r>
            <a:r>
              <a:rPr lang="en-US" sz="1600" dirty="0">
                <a:solidFill>
                  <a:schemeClr val="tx1"/>
                </a:solidFill>
              </a:rPr>
              <a:t>: </a:t>
            </a:r>
            <a:r>
              <a:rPr lang="ru-RU" sz="1600" dirty="0">
                <a:solidFill>
                  <a:schemeClr val="tx1"/>
                </a:solidFill>
              </a:rPr>
              <a:t>нет улучшений – останавливаем обучение.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Оставляем модель с </a:t>
            </a:r>
            <a:r>
              <a:rPr lang="ru-RU" sz="1600" dirty="0">
                <a:solidFill>
                  <a:schemeClr val="tx1"/>
                </a:solidFill>
              </a:rPr>
              <a:t>лучшей метрикой</a:t>
            </a:r>
            <a:endParaRPr lang="en-US" sz="1600" dirty="0"/>
          </a:p>
        </p:txBody>
      </p:sp>
      <p:sp>
        <p:nvSpPr>
          <p:cNvPr id="7" name="recipe"/>
          <p:cNvSpPr/>
          <p:nvPr/>
        </p:nvSpPr>
        <p:spPr>
          <a:xfrm>
            <a:off x="548640" y="4800600"/>
            <a:ext cx="11094415" cy="54864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77800" tIns="177800" rIns="177800" bIns="17780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ru-RU" sz="1600" b="1" dirty="0">
                <a:solidFill>
                  <a:schemeClr val="tx1"/>
                </a:solidFill>
              </a:rPr>
              <a:t>Применение</a:t>
            </a:r>
            <a:r>
              <a:rPr lang="en-US" sz="1600" b="1" dirty="0">
                <a:solidFill>
                  <a:schemeClr val="tx1"/>
                </a:solidFill>
              </a:rPr>
              <a:t>: </a:t>
            </a:r>
            <a:r>
              <a:rPr lang="en-US" sz="1600" dirty="0">
                <a:solidFill>
                  <a:schemeClr val="tx1"/>
                </a:solidFill>
              </a:rPr>
              <a:t>фиксируем маленький η, а число деревьев подбирает ранняя остановка.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4 · БУСТИНГ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Случайность и простые деревья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5410048" cy="29260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Стохастический </a:t>
            </a:r>
            <a:r>
              <a:rPr lang="en-US" sz="1600" b="1" dirty="0" err="1">
                <a:solidFill>
                  <a:schemeClr val="tx1"/>
                </a:solidFill>
              </a:rPr>
              <a:t>бустинг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/>
              <a:t>[3]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subsample</a:t>
            </a:r>
            <a:r>
              <a:rPr lang="en-US" sz="1600" dirty="0">
                <a:solidFill>
                  <a:schemeClr val="tx1"/>
                </a:solidFill>
              </a:rPr>
              <a:t> — </a:t>
            </a:r>
            <a:r>
              <a:rPr lang="ru-RU" sz="1600" dirty="0">
                <a:solidFill>
                  <a:schemeClr val="tx1"/>
                </a:solidFill>
              </a:rPr>
              <a:t>каждое дерево учится на случайной доле объектов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 err="1">
                <a:solidFill>
                  <a:schemeClr val="tx1"/>
                </a:solidFill>
              </a:rPr>
              <a:t>colsample</a:t>
            </a:r>
            <a:r>
              <a:rPr lang="ru-RU" sz="1600" b="1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— случайная доля признаков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Похож </a:t>
            </a:r>
            <a:r>
              <a:rPr lang="en-US" sz="1600" dirty="0">
                <a:solidFill>
                  <a:schemeClr val="tx1"/>
                </a:solidFill>
              </a:rPr>
              <a:t>бэггинг </a:t>
            </a:r>
            <a:r>
              <a:rPr lang="ru-RU" sz="1600" dirty="0">
                <a:solidFill>
                  <a:schemeClr val="tx1"/>
                </a:solidFill>
              </a:rPr>
              <a:t>внутри </a:t>
            </a:r>
            <a:r>
              <a:rPr lang="en-US" sz="1600" dirty="0">
                <a:solidFill>
                  <a:schemeClr val="tx1"/>
                </a:solidFill>
              </a:rPr>
              <a:t>бустинга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6233008" y="1783080"/>
            <a:ext cx="5410048" cy="29260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Ограничения на сами деревья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max_depth</a:t>
            </a:r>
            <a:r>
              <a:rPr lang="en-US" sz="1600" dirty="0">
                <a:solidFill>
                  <a:schemeClr val="tx1"/>
                </a:solidFill>
              </a:rPr>
              <a:t> — </a:t>
            </a:r>
            <a:r>
              <a:rPr lang="en-US" sz="1600" dirty="0" err="1">
                <a:solidFill>
                  <a:schemeClr val="tx1"/>
                </a:solidFill>
              </a:rPr>
              <a:t>неглубокие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деревья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num_leaves</a:t>
            </a:r>
            <a:r>
              <a:rPr lang="en-US" sz="1600" dirty="0">
                <a:solidFill>
                  <a:schemeClr val="tx1"/>
                </a:solidFill>
              </a:rPr>
              <a:t> — </a:t>
            </a:r>
            <a:r>
              <a:rPr lang="ru-RU" sz="1600" dirty="0">
                <a:solidFill>
                  <a:schemeClr val="tx1"/>
                </a:solidFill>
              </a:rPr>
              <a:t>предел числа листьев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 err="1">
                <a:solidFill>
                  <a:schemeClr val="tx1"/>
                </a:solidFill>
              </a:rPr>
              <a:t>min_data_in_leaf</a:t>
            </a:r>
            <a:r>
              <a:rPr lang="en-US" sz="1600" dirty="0">
                <a:solidFill>
                  <a:schemeClr val="tx1"/>
                </a:solidFill>
              </a:rPr>
              <a:t> — </a:t>
            </a:r>
            <a:r>
              <a:rPr lang="ru-RU" sz="1600" dirty="0">
                <a:solidFill>
                  <a:schemeClr val="tx1"/>
                </a:solidFill>
              </a:rPr>
              <a:t>предел числа данных в листе.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CatBoost: </a:t>
            </a:r>
            <a:r>
              <a:rPr lang="ru-RU" sz="1600" dirty="0">
                <a:solidFill>
                  <a:schemeClr val="tx1"/>
                </a:solidFill>
              </a:rPr>
              <a:t>симметричные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ru-RU" sz="1600" dirty="0">
                <a:solidFill>
                  <a:schemeClr val="tx1"/>
                </a:solidFill>
              </a:rPr>
              <a:t>деревья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4 · БУСТИНГ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Явный штраф: XGBoost</a:t>
            </a:r>
            <a:endParaRPr lang="en-US" sz="3200" dirty="0"/>
          </a:p>
        </p:txBody>
      </p:sp>
      <p:sp>
        <p:nvSpPr>
          <p:cNvPr id="5" name="formula box"/>
          <p:cNvSpPr/>
          <p:nvPr/>
        </p:nvSpPr>
        <p:spPr>
          <a:xfrm>
            <a:off x="548640" y="1783080"/>
            <a:ext cx="11094415" cy="11430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Obj = Σ ℓ(y, ŷ) + Σ Ω(f)   Ω(f) = γ · T + ½ · λ · Σ w² + α · Σ |w|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Первая сумма — по объектам, вторая — по деревьям; T — число листьев, w — значения в </a:t>
            </a:r>
            <a:r>
              <a:rPr lang="en-US" sz="1200" dirty="0" err="1">
                <a:solidFill>
                  <a:schemeClr val="tx2"/>
                </a:solidFill>
              </a:rPr>
              <a:t>листьях</a:t>
            </a:r>
            <a:endParaRPr lang="en-US" sz="2200" dirty="0"/>
          </a:p>
        </p:txBody>
      </p:sp>
      <p:sp>
        <p:nvSpPr>
          <p:cNvPr id="6" name="card"/>
          <p:cNvSpPr/>
          <p:nvPr/>
        </p:nvSpPr>
        <p:spPr>
          <a:xfrm>
            <a:off x="548640" y="3154680"/>
            <a:ext cx="5410048" cy="21031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λ и α — штраф на значения листьев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w* = −G / (H + λ)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G, H — суммы производных потерь в листе. λ тянет ответы к </a:t>
            </a:r>
            <a:r>
              <a:rPr lang="ru-RU" sz="1600" dirty="0">
                <a:solidFill>
                  <a:schemeClr val="tx1"/>
                </a:solidFill>
              </a:rPr>
              <a:t>нулю</a:t>
            </a:r>
            <a:r>
              <a:rPr lang="en-US" sz="1600" dirty="0">
                <a:solidFill>
                  <a:schemeClr val="tx1"/>
                </a:solidFill>
              </a:rPr>
              <a:t>. α </a:t>
            </a:r>
            <a:r>
              <a:rPr lang="ru-RU" sz="1600" dirty="0" err="1">
                <a:solidFill>
                  <a:schemeClr val="tx1"/>
                </a:solidFill>
              </a:rPr>
              <a:t>зануляет</a:t>
            </a:r>
            <a:r>
              <a:rPr lang="ru-RU" sz="1600" dirty="0">
                <a:solidFill>
                  <a:schemeClr val="tx1"/>
                </a:solidFill>
              </a:rPr>
              <a:t> слабые листья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6233008" y="3154680"/>
            <a:ext cx="5410048" cy="21031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γ — цена каждого нового листа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Gain = ½ · [S(L) + S(R) − S(L∪R)] − γ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 = G² / (H + λ). Разбиение делается, только если Gain &gt; 0.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5 · НЕЙРОСЕТИ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Нейросети: почему и чем лечить</a:t>
            </a:r>
            <a:endParaRPr lang="en-US" sz="3200" dirty="0"/>
          </a:p>
        </p:txBody>
      </p:sp>
      <p:sp>
        <p:nvSpPr>
          <p:cNvPr id="5" name="text"/>
          <p:cNvSpPr txBox="1"/>
          <p:nvPr/>
        </p:nvSpPr>
        <p:spPr>
          <a:xfrm>
            <a:off x="548640" y="1783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Параметров часто больше, чем объектов: сеть может просто запомнить выборку — даже со случайными метками.</a:t>
            </a:r>
            <a:endParaRPr lang="en-US" sz="2200" dirty="0"/>
          </a:p>
        </p:txBody>
      </p:sp>
      <p:sp>
        <p:nvSpPr>
          <p:cNvPr id="6" name="card"/>
          <p:cNvSpPr/>
          <p:nvPr/>
        </p:nvSpPr>
        <p:spPr>
          <a:xfrm>
            <a:off x="548640" y="3017520"/>
            <a:ext cx="2567864" cy="1600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Штраф на веса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L2 / weight decay, L1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3390824" y="3017520"/>
            <a:ext cx="2567864" cy="1600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Шум в обучении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dropout, аугментация, label smoothing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6233008" y="3017520"/>
            <a:ext cx="2567864" cy="1600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Контроль обучения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ранняя остановка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9075191" y="3017520"/>
            <a:ext cx="2567864" cy="1600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Неявная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BatchNorm, малый батч, архитектура, предобучение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5 · НЕЙРОСЕТИ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L2-регуляризация и weight decay</a:t>
            </a:r>
            <a:endParaRPr lang="en-US" sz="3200" dirty="0"/>
          </a:p>
        </p:txBody>
      </p:sp>
      <p:sp>
        <p:nvSpPr>
          <p:cNvPr id="5" name="formula box"/>
          <p:cNvSpPr/>
          <p:nvPr/>
        </p:nvSpPr>
        <p:spPr>
          <a:xfrm>
            <a:off x="548640" y="1783080"/>
            <a:ext cx="11094415" cy="15544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Q(w) = L(w) + (λ/2) · ‖w‖²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 ← w − η · (∇L(w) + λw) = (1 − ηλ) · w − η · ∇L(w)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На каждом шаге веса умножаются на (1 − ηλ) &lt; 1 и «затухают» — отсюда название weight decay</a:t>
            </a:r>
            <a:endParaRPr lang="en-US" sz="2200" dirty="0"/>
          </a:p>
        </p:txBody>
      </p:sp>
      <p:sp>
        <p:nvSpPr>
          <p:cNvPr id="6" name="card"/>
          <p:cNvSpPr/>
          <p:nvPr/>
        </p:nvSpPr>
        <p:spPr>
          <a:xfrm>
            <a:off x="548640" y="3566160"/>
            <a:ext cx="5410048" cy="18745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Нюанс с Adam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В Adam L2-штраф проходит через ту же адаптивную нормировку, что и градиент, и слабее действует на веса с большими градиентами. AdamW вычитает </a:t>
            </a:r>
            <a:r>
              <a:rPr lang="en-US" sz="1600" dirty="0" err="1">
                <a:solidFill>
                  <a:schemeClr val="tx1"/>
                </a:solidFill>
              </a:rPr>
              <a:t>затухание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отдельн</a:t>
            </a:r>
            <a:r>
              <a:rPr lang="ru-RU" sz="1600" dirty="0">
                <a:solidFill>
                  <a:schemeClr val="tx1"/>
                </a:solidFill>
              </a:rPr>
              <a:t>о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6233008" y="3566160"/>
            <a:ext cx="5410048" cy="18745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На практике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Штрафуют веса, но обычно не смещения и не параметры нормализаций. L1 в </a:t>
            </a:r>
            <a:r>
              <a:rPr lang="en-US" sz="1600" dirty="0" err="1">
                <a:solidFill>
                  <a:schemeClr val="tx1"/>
                </a:solidFill>
              </a:rPr>
              <a:t>сетях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редок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5 · НЕЙРОСЕТИ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Dropout</a:t>
            </a:r>
            <a:endParaRPr lang="en-US" sz="3200" dirty="0"/>
          </a:p>
        </p:txBody>
      </p:sp>
      <p:pic>
        <p:nvPicPr>
          <p:cNvPr id="5" name="Полная сеть и та же сеть на шаге с dropout" descr="Полная сеть и та же сеть на шаге с drop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5486400" cy="3465095"/>
          </a:xfrm>
          <a:prstGeom prst="rect">
            <a:avLst/>
          </a:prstGeom>
        </p:spPr>
      </p:pic>
      <p:sp>
        <p:nvSpPr>
          <p:cNvPr id="6" name="text"/>
          <p:cNvSpPr txBox="1"/>
          <p:nvPr/>
        </p:nvSpPr>
        <p:spPr>
          <a:xfrm>
            <a:off x="6355080" y="1828800"/>
            <a:ext cx="528797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На каждом шаге обучения каждый нейрон слоя обнуляется с </a:t>
            </a:r>
            <a:r>
              <a:rPr lang="en-US" sz="1600" dirty="0" err="1">
                <a:solidFill>
                  <a:schemeClr val="tx1"/>
                </a:solidFill>
              </a:rPr>
              <a:t>вероятностью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p</a:t>
            </a:r>
            <a:r>
              <a:rPr lang="ru-RU" sz="1600" b="1" dirty="0"/>
              <a:t>.</a:t>
            </a:r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 err="1">
                <a:solidFill>
                  <a:schemeClr val="tx1"/>
                </a:solidFill>
              </a:rPr>
              <a:t>Остальные</a:t>
            </a:r>
            <a:r>
              <a:rPr lang="en-US" sz="1600" dirty="0">
                <a:solidFill>
                  <a:schemeClr val="tx1"/>
                </a:solidFill>
              </a:rPr>
              <a:t> выходы умножаются на 1/(1 − p), поэтому на инференсе dropout просто выключают (в PyTorch — </a:t>
            </a:r>
            <a:r>
              <a:rPr lang="en-US" sz="1600" b="1" dirty="0">
                <a:solidFill>
                  <a:schemeClr val="tx1"/>
                </a:solidFill>
              </a:rPr>
              <a:t>model.eval()</a:t>
            </a:r>
            <a:r>
              <a:rPr lang="en-US" sz="1600" dirty="0">
                <a:solidFill>
                  <a:schemeClr val="tx1"/>
                </a:solidFill>
              </a:rPr>
              <a:t>).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Нейроны не могут полагаться на конкретных соседей; по сути, обучается ансамбль из 2ⁿ подсетей с общими весами.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Обычно p = 0.1–0.5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5 · НЕЙРОСЕТИ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Ранняя остановка</a:t>
            </a:r>
            <a:endParaRPr lang="en-US" sz="3200" dirty="0"/>
          </a:p>
        </p:txBody>
      </p:sp>
      <p:sp>
        <p:nvSpPr>
          <p:cNvPr id="5" name="text"/>
          <p:cNvSpPr txBox="1"/>
          <p:nvPr/>
        </p:nvSpPr>
        <p:spPr>
          <a:xfrm>
            <a:off x="548640" y="1828800"/>
            <a:ext cx="4480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Каждую эпоху считаем loss на валидации.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Нет улучшения </a:t>
            </a:r>
            <a:r>
              <a:rPr lang="en-US" sz="1600" b="1" dirty="0">
                <a:solidFill>
                  <a:schemeClr val="tx1"/>
                </a:solidFill>
              </a:rPr>
              <a:t>patience</a:t>
            </a:r>
            <a:r>
              <a:rPr lang="en-US" sz="1600" dirty="0">
                <a:solidFill>
                  <a:schemeClr val="tx1"/>
                </a:solidFill>
              </a:rPr>
              <a:t> эпох подряд — останавливаемся и возвращаем веса лучшей эпохи.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Тот же приём, что early_stopping_rounds в </a:t>
            </a:r>
            <a:r>
              <a:rPr lang="en-US" sz="1600" dirty="0" err="1">
                <a:solidFill>
                  <a:schemeClr val="tx1"/>
                </a:solidFill>
              </a:rPr>
              <a:t>бустинге</a:t>
            </a:r>
            <a:r>
              <a:rPr lang="ru-RU" sz="1600" dirty="0">
                <a:solidFill>
                  <a:schemeClr val="tx1"/>
                </a:solidFill>
              </a:rPr>
              <a:t>.</a:t>
            </a: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6" name="Кривые ошибки по эпохам с отметками лучшей эпохи и остановки" descr="Кривые ошибки по эпохам с отметками лучшей эпохи и остановки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103120"/>
            <a:ext cx="6339535" cy="350697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5 · НЕЙРОСЕТИ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Шум и данные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3515258" cy="3200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Аугментация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Новые объекты из старых через преобразования, не меняющие ответ: сдвиги, отражения, кропы, цвет, mixup, cutmix. Текст — перефразирование; звук — SpecAugment.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Для изображений — часто самый сильный регуляризатор.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338218" y="1783080"/>
            <a:ext cx="3515258" cy="3200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Шум во входах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Добавляем гауссов шум к входам (или весам) при обучении. При малом шуме </a:t>
            </a:r>
            <a:r>
              <a:rPr lang="en-US" sz="1600" dirty="0" err="1">
                <a:solidFill>
                  <a:schemeClr val="tx1"/>
                </a:solidFill>
              </a:rPr>
              <a:t>это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ru-RU" sz="1600" dirty="0">
                <a:solidFill>
                  <a:schemeClr val="tx1"/>
                </a:solidFill>
              </a:rPr>
              <a:t>схоже с </a:t>
            </a:r>
            <a:r>
              <a:rPr lang="en-US" sz="1600" dirty="0">
                <a:solidFill>
                  <a:schemeClr val="tx1"/>
                </a:solidFill>
              </a:rPr>
              <a:t>L2</a:t>
            </a:r>
            <a:r>
              <a:rPr lang="ru-RU" sz="1600" dirty="0"/>
              <a:t>.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8127797" y="1783080"/>
            <a:ext cx="3515258" cy="3200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Label smoothing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(1 − ε) · onehot + ε / K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Модель не тянет логиты в бесконечность и меньше переуверена. Обычно ε = 0.1</a:t>
            </a:r>
            <a:r>
              <a:rPr lang="ru-RU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5486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ДЕМОНСТРАЦИЯ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286000"/>
            <a:ext cx="110944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tx1"/>
                </a:solidFill>
              </a:rPr>
              <a:t>Демонстрация кода</a:t>
            </a:r>
            <a:endParaRPr lang="en-US" sz="6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ИТОГ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Одна идея — разные инструменты</a:t>
            </a:r>
            <a:endParaRPr lang="en-US" sz="3200" dirty="0"/>
          </a:p>
        </p:txBody>
      </p:sp>
      <p:graphicFrame>
        <p:nvGraphicFramePr>
          <p:cNvPr id="19" name="summar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27432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5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Модели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Чем регуляризуем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Линейные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L1, L2, ElasticNet — штраф на веса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Деревья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ограничение роста (глубина, min_samples_leaf) и обрезка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Случайный лес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бэггинг и случайные подмножества признаков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Бустинг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η + ранняя остановка, подвыборки, неглубокие деревья, λ и γ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Нейросети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 decay, dropout, аугментация, ранняя остановка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"/>
          <p:cNvSpPr txBox="1"/>
          <p:nvPr/>
        </p:nvSpPr>
        <p:spPr>
          <a:xfrm>
            <a:off x="548640" y="48463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ru-RU" sz="2000" b="1" dirty="0"/>
              <a:t>Н</a:t>
            </a:r>
            <a:r>
              <a:rPr lang="en-US" sz="2000" b="1" dirty="0" err="1">
                <a:solidFill>
                  <a:schemeClr val="tx1"/>
                </a:solidFill>
              </a:rPr>
              <a:t>емного</a:t>
            </a:r>
            <a:r>
              <a:rPr lang="en-US" sz="2000" b="1" dirty="0">
                <a:solidFill>
                  <a:schemeClr val="tx1"/>
                </a:solidFill>
              </a:rPr>
              <a:t> больше смещения в обмен на заметно меньший разброс. Силу регуляризации подбираем на валидации.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ИТОГ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Источники</a:t>
            </a:r>
            <a:endParaRPr lang="en-US" sz="3200" dirty="0"/>
          </a:p>
        </p:txBody>
      </p:sp>
      <p:sp>
        <p:nvSpPr>
          <p:cNvPr id="5" name="source list"/>
          <p:cNvSpPr txBox="1"/>
          <p:nvPr/>
        </p:nvSpPr>
        <p:spPr>
          <a:xfrm>
            <a:off x="548640" y="1783080"/>
            <a:ext cx="5410048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1. Goodfellow I., Bengio Y., Courville A. Deep Learning. MIT Press, 2016.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ru-RU" sz="1200" dirty="0"/>
              <a:t>2</a:t>
            </a:r>
            <a:r>
              <a:rPr lang="en-US" sz="1200" dirty="0">
                <a:solidFill>
                  <a:schemeClr val="tx1"/>
                </a:solidFill>
              </a:rPr>
              <a:t>. Friedman J. H. Greedy function approximation: a gradient boosting machine. Annals of Statistics, 2001.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ru-RU" sz="1200" dirty="0"/>
              <a:t>3</a:t>
            </a:r>
            <a:r>
              <a:rPr lang="en-US" sz="1200" dirty="0">
                <a:solidFill>
                  <a:schemeClr val="tx1"/>
                </a:solidFill>
              </a:rPr>
              <a:t>. Friedman J. H. Stochastic gradient boosting. Computational Statistics &amp; Data Analysis, 2002.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ru-RU" sz="1200" dirty="0"/>
              <a:t>4. Hastie T., Tibshirani R., Friedman J. The Elements of Statistical Learning. Springer, 2009.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ru-RU" sz="1200" dirty="0"/>
              <a:t>5. Breiman L. Random forests. Machine Learning, 2001.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286000"/>
            <a:ext cx="110944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tx1"/>
                </a:solidFill>
              </a:rPr>
              <a:t>Спасибо!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6118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Вопросы?</a:t>
            </a:r>
            <a:endParaRPr lang="en-US" sz="2400" dirty="0"/>
          </a:p>
        </p:txBody>
      </p:sp>
      <p:sp>
        <p:nvSpPr>
          <p:cNvPr id="5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5486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6" name="Text 0"/>
          <p:cNvSpPr>
            <a:spLocks noGrp="1"/>
          </p:cNvSpPr>
          <p:nvPr>
            <p:ph type="body" idx="103" hasCustomPrompt="1"/>
          </p:nvPr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2 · ЛИНЕЙНЫЕ МОДЕЛИ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SVM: L2 внутри метода</a:t>
            </a:r>
            <a:endParaRPr lang="en-US" sz="3200" dirty="0"/>
          </a:p>
        </p:txBody>
      </p:sp>
      <p:sp>
        <p:nvSpPr>
          <p:cNvPr id="11" name="formula box"/>
          <p:cNvSpPr/>
          <p:nvPr/>
        </p:nvSpPr>
        <p:spPr>
          <a:xfrm>
            <a:off x="548640" y="1783080"/>
            <a:ext cx="11091672" cy="13258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ru-RU" sz="22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min  ½‖w‖² + C · Σ max(0, 1 − yᵢ(wᵀxᵢ + b))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ru-RU" sz="1200" dirty="0">
                <a:solidFill>
                  <a:schemeClr val="tx2"/>
                </a:solidFill>
              </a:rPr>
              <a:t>½‖w‖² — L2-штраф, сумма — по объектам, i = 1…n; C = 1/λ [4]</a:t>
            </a:r>
          </a:p>
        </p:txBody>
      </p:sp>
      <p:sp>
        <p:nvSpPr>
          <p:cNvPr id="12" name="card"/>
          <p:cNvSpPr/>
          <p:nvPr/>
        </p:nvSpPr>
        <p:spPr>
          <a:xfrm>
            <a:off x="548640" y="3383280"/>
            <a:ext cx="5408676" cy="24231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ru-RU" sz="1600" b="1" dirty="0">
                <a:solidFill>
                  <a:schemeClr val="tx1"/>
                </a:solidFill>
              </a:rPr>
              <a:t>L2 = максимальный зазор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Ширина полосы между классами равна 2 / ‖w‖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Меньше ‖w‖ — шире полоса — проще граница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Hinge штрафует только объекты в полосе и за ней</a:t>
            </a:r>
          </a:p>
        </p:txBody>
      </p:sp>
      <p:sp>
        <p:nvSpPr>
          <p:cNvPr id="13" name="card"/>
          <p:cNvSpPr/>
          <p:nvPr/>
        </p:nvSpPr>
        <p:spPr>
          <a:xfrm>
            <a:off x="6231636" y="3383280"/>
            <a:ext cx="5408676" cy="24231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ru-RU" sz="1600" b="1" dirty="0">
                <a:solidFill>
                  <a:schemeClr val="tx1"/>
                </a:solidFill>
              </a:rPr>
              <a:t>Параметр C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C велико: штраф слабый, зазор узкий, мало ошибок на обучении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C мало: штраф сильный, зазор широкий, часть ошибок допускаем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L1-SVM даёт разреженные веса, но основной вариант — на L2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4 · БУСТИНГ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Шпаргалка по библиотекам</a:t>
            </a:r>
            <a:endParaRPr lang="en-US" sz="3200" dirty="0"/>
          </a:p>
        </p:txBody>
      </p:sp>
      <p:graphicFrame>
        <p:nvGraphicFramePr>
          <p:cNvPr id="22" name="paramete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4" cy="36576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1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18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Механизм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XGBoost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LightGBM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CatBoost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Темп обучения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learning_rate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learning_rate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Ранняя остановка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early_stopping_rounds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early_stopping_round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early_stopping_rounds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Размер дерева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max_depth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num_leaves, max_depth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Мин. данных в листе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min_child_weight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min_data_in_leaf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min_data_in_leaf ¹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 / L2 на листья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alpha / lambda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lambda_l1 / lambda_l2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 / l2_leaf_reg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Мин. прирост от разбиения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gamma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min_gain_to_split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Подвыборка объектов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subsample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bagging_fraction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subsample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Подвыборка признаков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colsample_bytree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feature_fraction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Dropout деревьев (DART)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booster = dart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boosting = dart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5 · НЕЙРОСЕТИ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Неявная регуляризация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5410048" cy="15544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Batch Normalization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Придумана для стабильного обучения, но статистики мини-батча добавляют шум — лёгкий </a:t>
            </a:r>
            <a:r>
              <a:rPr lang="en-US" sz="1600" dirty="0" err="1">
                <a:solidFill>
                  <a:schemeClr val="tx1"/>
                </a:solidFill>
              </a:rPr>
              <a:t>регуляризующий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эффект</a:t>
            </a:r>
            <a:r>
              <a:rPr lang="ru-RU" sz="1600" dirty="0"/>
              <a:t>.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6233008" y="1783080"/>
            <a:ext cx="5410048" cy="15544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SGD и маленький батч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Шум стохастического градиента уводит в «плоские» минимумы, которые </a:t>
            </a:r>
            <a:r>
              <a:rPr lang="en-US" sz="1600" dirty="0" err="1">
                <a:solidFill>
                  <a:schemeClr val="tx1"/>
                </a:solidFill>
              </a:rPr>
              <a:t>лучше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обобщаются</a:t>
            </a:r>
            <a:r>
              <a:rPr lang="ru-RU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548640" y="3611880"/>
            <a:ext cx="5410048" cy="15544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Архитектура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Свёртки и общие веса встраивают знание о данных и уменьшают число свободных параметров.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6233008" y="3611880"/>
            <a:ext cx="5410048" cy="15544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Предобучение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Старт с весов, обученных на большой выборке; на малых данных дообучаем, иногда замораживая слои.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gularization BW">
  <a:themeElements>
    <a:clrScheme name="Regularization BW">
      <a:dk1>
        <a:srgbClr val="000000"/>
      </a:dk1>
      <a:lt1>
        <a:srgbClr val="FFFFFF"/>
      </a:lt1>
      <a:dk2>
        <a:srgbClr val="4D4D4D"/>
      </a:dk2>
      <a:lt2>
        <a:srgbClr val="F2F2F2"/>
      </a:lt2>
      <a:accent1>
        <a:srgbClr val="000000"/>
      </a:accent1>
      <a:accent2>
        <a:srgbClr val="4D4D4D"/>
      </a:accent2>
      <a:accent3>
        <a:srgbClr val="808080"/>
      </a:accent3>
      <a:accent4>
        <a:srgbClr val="A6A6A6"/>
      </a:accent4>
      <a:accent5>
        <a:srgbClr val="BFBFBF"/>
      </a:accent5>
      <a:accent6>
        <a:srgbClr val="D9D9D9"/>
      </a:accent6>
      <a:hlink>
        <a:srgbClr val="000000"/>
      </a:hlink>
      <a:folHlink>
        <a:srgbClr val="4D4D4D"/>
      </a:folHlink>
    </a:clrScheme>
    <a:fontScheme name="Regularization BW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6347</Words>
  <Application>Microsoft Office PowerPoint</Application>
  <PresentationFormat>Широкоэкранный</PresentationFormat>
  <Paragraphs>463</Paragraphs>
  <Slides>35</Slides>
  <Notes>35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39" baseType="lpstr">
      <vt:lpstr>Arial</vt:lpstr>
      <vt:lpstr>Calibri</vt:lpstr>
      <vt:lpstr>Cambria Math</vt:lpstr>
      <vt:lpstr>Regularization BW</vt:lpstr>
      <vt:lpstr>Регуляризация</vt:lpstr>
      <vt:lpstr>План доклада</vt:lpstr>
      <vt:lpstr>Переобучение</vt:lpstr>
      <vt:lpstr>Что такое регуляризация</vt:lpstr>
      <vt:lpstr>Bias-variance decomposition</vt:lpstr>
      <vt:lpstr>Зачем регуляризовать линейную модель</vt:lpstr>
      <vt:lpstr>L2-регуляризация (Ridge)</vt:lpstr>
      <vt:lpstr>L1-регуляризация (Lasso)</vt:lpstr>
      <vt:lpstr>Почему L1 обнуляет веса, а L2 нет</vt:lpstr>
      <vt:lpstr>L1 и L2: сравнение</vt:lpstr>
      <vt:lpstr>ElasticNet: L1 + L2</vt:lpstr>
      <vt:lpstr>Теория: Lp-штрафы и разреживание</vt:lpstr>
      <vt:lpstr>Гиперпараметр λ</vt:lpstr>
      <vt:lpstr>Почему деревья переобучаются</vt:lpstr>
      <vt:lpstr>Два способа ограничить дерево</vt:lpstr>
      <vt:lpstr>Ограничение роста дерева</vt:lpstr>
      <vt:lpstr>Обрезка дерева (post-pruning)</vt:lpstr>
      <vt:lpstr>Бэггинг и случайный лес</vt:lpstr>
      <vt:lpstr>Случайный лес: ручки регуляризации</vt:lpstr>
      <vt:lpstr>Почему бустинг переобучается</vt:lpstr>
      <vt:lpstr>Темп обучения и ранняя остановка</vt:lpstr>
      <vt:lpstr>Случайность и простые деревья</vt:lpstr>
      <vt:lpstr>Явный штраф: XGBoost</vt:lpstr>
      <vt:lpstr>Нейросети: почему и чем лечить</vt:lpstr>
      <vt:lpstr>L2-регуляризация и weight decay</vt:lpstr>
      <vt:lpstr>Dropout</vt:lpstr>
      <vt:lpstr>Ранняя остановка</vt:lpstr>
      <vt:lpstr>Шум и данные</vt:lpstr>
      <vt:lpstr>Демонстрация кода</vt:lpstr>
      <vt:lpstr>Одна идея — разные инструменты</vt:lpstr>
      <vt:lpstr>Источники</vt:lpstr>
      <vt:lpstr>Спасибо!</vt:lpstr>
      <vt:lpstr>SVM: L2 внутри метода</vt:lpstr>
      <vt:lpstr>Шпаргалка по библиотекам</vt:lpstr>
      <vt:lpstr>Неявная регуляризация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Регуляризация</dc:title>
  <dc:subject>PptxGenJS Presentation</dc:subject>
  <dc:creator>PptxGenJS</dc:creator>
  <cp:lastModifiedBy>Шевцов Дмитрий Александрович</cp:lastModifiedBy>
  <cp:revision>24</cp:revision>
  <dcterms:created xsi:type="dcterms:W3CDTF">2026-10-09T10:51:21Z</dcterms:created>
  <dcterms:modified xsi:type="dcterms:W3CDTF">2026-10-25T20:54:31Z</dcterms:modified>
</cp:coreProperties>
</file>